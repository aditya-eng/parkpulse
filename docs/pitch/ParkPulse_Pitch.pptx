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e15491-3128-7488-7c0d-3ad8f13d1d35}">
          <p14:sldIdLst>
            <p14:sldId id="256"/>
          </p14:sldIdLst>
        </p14:section>
        <p14:section name="Problem and solution" id="{ff73e724-49b9-8b95-32fb-d5e6352d0fb7}">
          <p14:sldIdLst>
            <p14:sldId id="257"/>
            <p14:sldId id="258"/>
          </p14:sldIdLst>
        </p14:section>
        <p14:section name="Prototype" id="{ea987365-6be2-63dc-3228-1003c79788c8}">
          <p14:sldIdLst>
            <p14:sldId id="259"/>
            <p14:sldId id="260"/>
            <p14:sldId id="261"/>
            <p14:sldId id="262"/>
            <p14:sldId id="263"/>
          </p14:sldIdLst>
        </p14:section>
        <p14:section name="Case" id="{d672a136-7ebb-5e85-765a-c521c0d30bbc}">
          <p14:sldIdLst>
            <p14:sldId id="264"/>
            <p14:sldId id="265"/>
            <p14:sldId id="266"/>
            <p14:sldId id="267"/>
          </p14:sldIdLst>
        </p14:section>
        <p14:section name="Close" id="{da977de2-6658-7996-5d0a-c70b17ebb43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ParkPulse model</c:v>
                </c:pt>
              </c:strCache>
            </c:strRef>
          </c:tx>
          <c:spPr>
            <a:solidFill>
              <a:srgbClr val="0F6E6A"/>
            </a:solidFill>
            <a:effectLst/>
          </c:spPr>
          <c:invertIfNegative val="0"/>
          <c:dLbls>
            <c:numFmt formatCode="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cat>
            <c:multiLvlStrRef>
              <c:f>Sheet1!$A$2:$A$7</c:f>
              <c:multiLvlStrCache>
                <c:ptCount val="6"/>
                <c:lvl>
                  <c:pt idx="0">
                    <c:v>Gandhi Nagar</c:v>
                  </c:pt>
                  <c:pt idx="1">
                    <c:v>Raghunath Bazaar</c:v>
                  </c:pt>
                  <c:pt idx="2">
                    <c:v>Residency Road</c:v>
                  </c:pt>
                  <c:pt idx="3">
                    <c:v>Railway Station</c:v>
                  </c:pt>
                  <c:pt idx="4">
                    <c:v>Bahu Plaza</c:v>
                  </c:pt>
                  <c:pt idx="5">
                    <c:v>Bus Stand</c:v>
                  </c:pt>
                </c:lvl>
              </c:multiLvlStrCache>
            </c:multiLvlStrRef>
          </c:cat>
          <c:val>
            <c:numRef>
              <c:f>Sheet1!$B$2:$B$7</c:f>
              <c:numCache>
                <c:formatCode>General</c:formatCode>
                <c:ptCount val="6"/>
                <c:pt idx="0">
                  <c:v>6.1</c:v>
                </c:pt>
                <c:pt idx="1">
                  <c:v>7.1</c:v>
                </c:pt>
                <c:pt idx="2">
                  <c:v>7.1</c:v>
                </c:pt>
                <c:pt idx="3">
                  <c:v>7.9</c:v>
                </c:pt>
                <c:pt idx="4">
                  <c:v>8</c:v>
                </c:pt>
                <c:pt idx="5">
                  <c:v>9.1</c:v>
                </c:pt>
              </c:numCache>
            </c:numRef>
          </c:val>
        </c:ser>
        <c:ser>
          <c:idx val="1"/>
          <c:order val="1"/>
          <c:tx>
            <c:strRef>
              <c:f>Sheet1!$C$1</c:f>
              <c:strCache>
                <c:ptCount val="1"/>
                <c:pt idx="0">
                  <c:v>Same hour last week</c:v>
                </c:pt>
              </c:strCache>
            </c:strRef>
          </c:tx>
          <c:spPr>
            <a:solidFill>
              <a:srgbClr val="CFD6D1"/>
            </a:solidFill>
            <a:effectLst/>
          </c:spPr>
          <c:invertIfNegative val="0"/>
          <c:dLbls>
            <c:numFmt formatCode="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cat>
            <c:multiLvlStrRef>
              <c:f>Sheet1!$A$2:$A$7</c:f>
              <c:multiLvlStrCache>
                <c:ptCount val="6"/>
                <c:lvl>
                  <c:pt idx="0">
                    <c:v>Gandhi Nagar</c:v>
                  </c:pt>
                  <c:pt idx="1">
                    <c:v>Raghunath Bazaar</c:v>
                  </c:pt>
                  <c:pt idx="2">
                    <c:v>Residency Road</c:v>
                  </c:pt>
                  <c:pt idx="3">
                    <c:v>Railway Station</c:v>
                  </c:pt>
                  <c:pt idx="4">
                    <c:v>Bahu Plaza</c:v>
                  </c:pt>
                  <c:pt idx="5">
                    <c:v>Bus Stand</c:v>
                  </c:pt>
                </c:lvl>
              </c:multiLvlStrCache>
            </c:multiLvlStrRef>
          </c:cat>
          <c:val>
            <c:numRef>
              <c:f>Sheet1!$C$2:$C$7</c:f>
              <c:numCache>
                <c:formatCode>General</c:formatCode>
                <c:ptCount val="6"/>
                <c:pt idx="0">
                  <c:v>8</c:v>
                </c:pt>
                <c:pt idx="1">
                  <c:v>8.7</c:v>
                </c:pt>
                <c:pt idx="2">
                  <c:v>9.5</c:v>
                </c:pt>
                <c:pt idx="3">
                  <c:v>9.5</c:v>
                </c:pt>
                <c:pt idx="4">
                  <c:v>9.1</c:v>
                </c:pt>
                <c:pt idx="5">
                  <c:v>10.3</c:v>
                </c:pt>
              </c:numCache>
            </c:numRef>
          </c:val>
        </c:ser>
        <c:dLbls>
          <c:numFmt formatCode="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668"/>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CFD6D1"/>
              </a:solidFill>
              <a:prstDash val="solid"/>
              <a:round/>
            </a:ln>
          </c:spPr>
        </c:majorGridlines>
        <c:title>
          <c:tx>
            <c:rich>
              <a:bodyPr/>
              <a:lstStyle/>
              <a:p>
                <a:pPr>
                  <a:defRPr sz="1100" b="0" i="0" u="none" strike="noStrike">
                    <a:solidFill>
                      <a:srgbClr val="4D5668"/>
                    </a:solidFill>
                    <a:latin typeface="+mn-lt"/>
                  </a:defRPr>
                </a:pPr>
                <a:r>
                  <a:rPr sz="1100" b="0" i="0" u="none" strike="noStrike">
                    <a:solidFill>
                      <a:srgbClr val="4D5668"/>
                    </a:solidFill>
                    <a:latin typeface="+mn-lt"/>
                  </a:rPr>
                  <a:t>Mean absolute error, % points (lower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D56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D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ParkPulse Jammu reuses the city's CCTV to count free parking bays, tells citizens and pilgrims where to park on WhatsApp, alerts traffic police to illegal parking and gives JMC and JSCL data to plan. Everything shown runs today, on simulated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qualitative: we have not measured Jammu search times yet. That is what the pilot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246120"/>
            <a:ext cx="6400800" cy="128016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P_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1000" dirty="0">
                <a:solidFill>
                  <a:schemeClr val="tx2"/>
                </a:solidFill>
              </a:rPr>
              <a:t>ParkPulse Jammu  |  Team Byte Bros  |  Jammu Smart City Hackathon 2026  |  Prototype on simulated data</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1000" dirty="0">
                <a:solidFill>
                  <a:srgbClr val="9AA3B5"/>
                </a:solidFill>
              </a:rPr>
              <a:t>ParkPulse Jammu  |  Team Byte Bros  |  Jammu Smart City Hackathon 2026  |  Prototype on simulated data</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3B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ditya-eng/ParkPulse" TargetMode="External"/><Relationship Id="rId2" Type="http://schemas.openxmlformats.org/officeDocument/2006/relationships/image" Target="../media/image-13-1.jp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1280160"/>
          </a:xfrm>
          <a:prstGeom prst="rect">
            <a:avLst/>
          </a:prstGeom>
          <a:noFill/>
          <a:ln/>
        </p:spPr>
        <p:txBody>
          <a:bodyPr wrap="square" lIns="0" tIns="0" rIns="0" bIns="0" rtlCol="0" anchor="b"/>
          <a:lstStyle/>
          <a:p>
            <a:pPr algn="l" indent="0" marL="0">
              <a:buNone/>
            </a:pPr>
            <a:r>
              <a:rPr lang="en-US" sz="5400" b="1" dirty="0">
                <a:solidFill>
                  <a:schemeClr val="bg1"/>
                </a:solidFill>
              </a:rPr>
              <a:t>Park</a:t>
            </a:r>
            <a:pPr algn="l" indent="0" marL="0">
              <a:buNone/>
            </a:pPr>
            <a:r>
              <a:rPr lang="en-US" sz="5400" b="1" dirty="0">
                <a:solidFill>
                  <a:schemeClr val="accent4"/>
                </a:solidFill>
              </a:rPr>
              <a:t>Pulse</a:t>
            </a:r>
            <a:pPr algn="l" indent="0" marL="0">
              <a:buNone/>
            </a:pPr>
            <a:r>
              <a:rPr lang="en-US" sz="5400" b="1" dirty="0">
                <a:solidFill>
                  <a:schemeClr val="bg1"/>
                </a:solidFill>
              </a:rPr>
              <a:t> Jammu</a:t>
            </a:r>
            <a:endParaRPr lang="en-US" sz="5400" dirty="0"/>
          </a:p>
        </p:txBody>
      </p:sp>
      <p:sp>
        <p:nvSpPr>
          <p:cNvPr id="3" name="Text 0"/>
          <p:cNvSpPr/>
          <p:nvPr>
            <p:ph idx="101" type="body" hasCustomPrompt="1"/>
          </p:nvPr>
        </p:nvSpPr>
        <p:spPr>
          <a:xfrm>
            <a:off x="548640" y="3246120"/>
            <a:ext cx="6400800" cy="1280160"/>
          </a:xfrm>
          <a:prstGeom prst="rect">
            <a:avLst/>
          </a:prstGeom>
          <a:noFill/>
          <a:ln/>
        </p:spPr>
        <p:txBody>
          <a:bodyPr wrap="square" lIns="0" tIns="0" rIns="0" bIns="0" rtlCol="0" anchor="t"/>
          <a:lstStyle/>
          <a:p>
            <a:pPr algn="l" indent="0" marL="0">
              <a:buNone/>
            </a:pPr>
            <a:r>
              <a:rPr lang="en-US" sz="2000" dirty="0">
                <a:solidFill>
                  <a:schemeClr val="accent4"/>
                </a:solidFill>
              </a:rPr>
              <a:t>Live parking and congestion intelligence from the city's existing cameras</a:t>
            </a:r>
            <a:endParaRPr lang="en-US" sz="2000" dirty="0"/>
          </a:p>
        </p:txBody>
      </p:sp>
      <p:sp>
        <p:nvSpPr>
          <p:cNvPr id="4" name="Text 2"/>
          <p:cNvSpPr txBox="1"/>
          <p:nvPr/>
        </p:nvSpPr>
        <p:spPr>
          <a:xfrm>
            <a:off x="548640" y="4800600"/>
            <a:ext cx="6400800" cy="320040"/>
          </a:xfrm>
          <a:prstGeom prst="rect">
            <a:avLst/>
          </a:prstGeom>
          <a:noFill/>
          <a:ln/>
        </p:spPr>
        <p:txBody>
          <a:bodyPr wrap="square" lIns="0" tIns="0" rIns="0" bIns="0" rtlCol="0" anchor="t"/>
          <a:lstStyle/>
          <a:p>
            <a:pPr indent="0" marL="0">
              <a:buNone/>
            </a:pPr>
            <a:r>
              <a:rPr lang="en-US" sz="1500" b="1" dirty="0">
                <a:solidFill>
                  <a:schemeClr val="bg1"/>
                </a:solidFill>
              </a:rPr>
              <a:t>Digital Governance, Mobility &amp; Smart Infrastructure</a:t>
            </a:r>
            <a:endParaRPr lang="en-US" sz="1500" dirty="0"/>
          </a:p>
        </p:txBody>
      </p:sp>
      <p:sp>
        <p:nvSpPr>
          <p:cNvPr id="5" name="Text 3"/>
          <p:cNvSpPr txBox="1"/>
          <p:nvPr/>
        </p:nvSpPr>
        <p:spPr>
          <a:xfrm>
            <a:off x="548640" y="5138928"/>
            <a:ext cx="6309360" cy="640080"/>
          </a:xfrm>
          <a:prstGeom prst="rect">
            <a:avLst/>
          </a:prstGeom>
          <a:noFill/>
          <a:ln/>
        </p:spPr>
        <p:txBody>
          <a:bodyPr wrap="square" lIns="0" tIns="0" rIns="0" bIns="0" rtlCol="0" anchor="t"/>
          <a:lstStyle/>
          <a:p>
            <a:pPr indent="0" marL="0">
              <a:buNone/>
            </a:pPr>
            <a:r>
              <a:rPr lang="en-US" sz="1400" dirty="0">
                <a:solidFill>
                  <a:srgbClr val="B9C2D3"/>
                </a:solidFill>
              </a:rPr>
              <a:t>Problem statement: use real-time data and technology to optimise parking, manage congestion and discourage illegal parking.</a:t>
            </a:r>
            <a:endParaRPr lang="en-US" sz="1400" dirty="0"/>
          </a:p>
        </p:txBody>
      </p:sp>
      <p:sp>
        <p:nvSpPr>
          <p:cNvPr id="6" name="Prototype flag"/>
          <p:cNvSpPr/>
          <p:nvPr/>
        </p:nvSpPr>
        <p:spPr>
          <a:xfrm>
            <a:off x="548640" y="1143000"/>
            <a:ext cx="2880360" cy="365760"/>
          </a:xfrm>
          <a:prstGeom prst="roundRect">
            <a:avLst>
              <a:gd name="adj" fmla="val 50000"/>
            </a:avLst>
          </a:prstGeom>
          <a:solidFill>
            <a:schemeClr val="tx1"/>
          </a:solidFill>
          <a:ln w="12700">
            <a:solidFill>
              <a:srgbClr val="6B5A2C"/>
            </a:solidFill>
            <a:prstDash val="solid"/>
          </a:ln>
        </p:spPr>
      </p:sp>
      <p:sp>
        <p:nvSpPr>
          <p:cNvPr id="7" name="Text 5"/>
          <p:cNvSpPr txBox="1"/>
          <p:nvPr/>
        </p:nvSpPr>
        <p:spPr>
          <a:xfrm>
            <a:off x="548640" y="1143000"/>
            <a:ext cx="2880360" cy="365760"/>
          </a:xfrm>
          <a:prstGeom prst="rect">
            <a:avLst/>
          </a:prstGeom>
          <a:noFill/>
          <a:ln/>
        </p:spPr>
        <p:txBody>
          <a:bodyPr wrap="square" lIns="0" tIns="0" rIns="0" bIns="0" rtlCol="0" anchor="ctr"/>
          <a:lstStyle/>
          <a:p>
            <a:pPr algn="ctr" indent="0" marL="0">
              <a:buNone/>
            </a:pPr>
            <a:r>
              <a:rPr lang="en-US" sz="1200" dirty="0">
                <a:solidFill>
                  <a:srgbClr val="FFD98A"/>
                </a:solidFill>
              </a:rPr>
              <a:t>Working prototype on simulated data</a:t>
            </a:r>
            <a:endParaRPr lang="en-US" sz="1200" dirty="0"/>
          </a:p>
        </p:txBody>
      </p:sp>
      <p:pic>
        <p:nvPicPr>
          <p:cNvPr id="8" name="Mobile screenshot" descr="/tmp/claude-0/pdfbuild/mobile.jpg">    </p:cNvPr>
          <p:cNvPicPr>
            <a:picLocks noChangeAspect="1"/>
          </p:cNvPicPr>
          <p:nvPr/>
        </p:nvPicPr>
        <p:blipFill>
          <a:blip r:embed="rId1"/>
          <a:stretch>
            <a:fillRect/>
          </a:stretch>
        </p:blipFill>
        <p:spPr>
          <a:xfrm>
            <a:off x="8431981" y="502920"/>
            <a:ext cx="2704197" cy="5852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Jammu's parking problem is an information problem</a:t>
            </a:r>
            <a:endParaRPr lang="en-US" sz="3200" dirty="0"/>
          </a:p>
        </p:txBody>
      </p:sp>
      <p:sp>
        <p:nvSpPr>
          <p:cNvPr id="3" name="Text 1"/>
          <p:cNvSpPr txBox="1"/>
          <p:nvPr/>
        </p:nvSpPr>
        <p:spPr>
          <a:xfrm>
            <a:off x="548640" y="1188720"/>
            <a:ext cx="10515600" cy="457200"/>
          </a:xfrm>
          <a:prstGeom prst="rect">
            <a:avLst/>
          </a:prstGeom>
          <a:noFill/>
          <a:ln/>
        </p:spPr>
        <p:txBody>
          <a:bodyPr wrap="square" lIns="0" tIns="0" rIns="0" bIns="0" rtlCol="0" anchor="t"/>
          <a:lstStyle/>
          <a:p>
            <a:pPr indent="0" marL="0">
              <a:buNone/>
            </a:pPr>
            <a:r>
              <a:rPr lang="en-US" sz="1700" dirty="0">
                <a:solidFill>
                  <a:schemeClr val="tx2"/>
                </a:solidFill>
              </a:rPr>
              <a:t>Bays exist, but nobody can see which ones are free, so drivers circle, double-park and block junctions.</a:t>
            </a:r>
            <a:endParaRPr lang="en-US" sz="1700" dirty="0"/>
          </a:p>
        </p:txBody>
      </p:sp>
      <p:sp>
        <p:nvSpPr>
          <p:cNvPr id="4" name="Problem card 1"/>
          <p:cNvSpPr/>
          <p:nvPr/>
        </p:nvSpPr>
        <p:spPr>
          <a:xfrm>
            <a:off x="548640" y="1920240"/>
            <a:ext cx="2606040" cy="4114800"/>
          </a:xfrm>
          <a:prstGeom prst="roundRect">
            <a:avLst>
              <a:gd name="adj" fmla="val 280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sp>
        <p:nvSpPr>
          <p:cNvPr id="5" name="Problem 1 circle"/>
          <p:cNvSpPr/>
          <p:nvPr/>
        </p:nvSpPr>
        <p:spPr>
          <a:xfrm>
            <a:off x="822960" y="2240280"/>
            <a:ext cx="731520" cy="731520"/>
          </a:xfrm>
          <a:prstGeom prst="ellipse">
            <a:avLst/>
          </a:prstGeom>
          <a:solidFill>
            <a:schemeClr val="accent2"/>
          </a:solidFill>
          <a:ln/>
        </p:spPr>
      </p:sp>
      <p:pic>
        <p:nvPicPr>
          <p:cNvPr id="6" name="Problem 1 icon" descr="preencoded.png">    </p:cNvPr>
          <p:cNvPicPr>
            <a:picLocks noChangeAspect="1"/>
          </p:cNvPicPr>
          <p:nvPr/>
        </p:nvPicPr>
        <p:blipFill>
          <a:blip r:embed="rId1"/>
          <a:stretch>
            <a:fillRect/>
          </a:stretch>
        </p:blipFill>
        <p:spPr>
          <a:xfrm>
            <a:off x="983894" y="2401214"/>
            <a:ext cx="409651" cy="409651"/>
          </a:xfrm>
          <a:prstGeom prst="rect">
            <a:avLst/>
          </a:prstGeom>
        </p:spPr>
      </p:pic>
      <p:sp>
        <p:nvSpPr>
          <p:cNvPr id="7" name="Text 4"/>
          <p:cNvSpPr txBox="1"/>
          <p:nvPr/>
        </p:nvSpPr>
        <p:spPr>
          <a:xfrm>
            <a:off x="822960" y="3154680"/>
            <a:ext cx="2057400" cy="731520"/>
          </a:xfrm>
          <a:prstGeom prst="rect">
            <a:avLst/>
          </a:prstGeom>
          <a:noFill/>
          <a:ln/>
        </p:spPr>
        <p:txBody>
          <a:bodyPr wrap="square" lIns="0" tIns="0" rIns="0" bIns="0" rtlCol="0" anchor="t"/>
          <a:lstStyle/>
          <a:p>
            <a:pPr indent="0" marL="0">
              <a:buNone/>
            </a:pPr>
            <a:r>
              <a:rPr lang="en-US" sz="1700" b="1" dirty="0">
                <a:solidFill>
                  <a:schemeClr val="tx1"/>
                </a:solidFill>
              </a:rPr>
              <a:t>Drivers circle the markets</a:t>
            </a:r>
            <a:endParaRPr lang="en-US" sz="1700" dirty="0"/>
          </a:p>
        </p:txBody>
      </p:sp>
      <p:sp>
        <p:nvSpPr>
          <p:cNvPr id="8" name="Text 5"/>
          <p:cNvSpPr txBox="1"/>
          <p:nvPr/>
        </p:nvSpPr>
        <p:spPr>
          <a:xfrm>
            <a:off x="822960" y="3931920"/>
            <a:ext cx="2057400" cy="1920240"/>
          </a:xfrm>
          <a:prstGeom prst="rect">
            <a:avLst/>
          </a:prstGeom>
          <a:noFill/>
          <a:ln/>
        </p:spPr>
        <p:txBody>
          <a:bodyPr wrap="square" lIns="0" tIns="0" rIns="0" bIns="0" rtlCol="0" anchor="t"/>
          <a:lstStyle/>
          <a:p>
            <a:pPr indent="0" marL="0">
              <a:buNone/>
            </a:pPr>
            <a:r>
              <a:rPr lang="en-US" sz="1400" dirty="0">
                <a:solidFill>
                  <a:schemeClr val="tx2"/>
                </a:solidFill>
              </a:rPr>
              <a:t>Raghunath Bazaar, Residency Road and Gandhi Nagar fill at midday and evening. With no live information, drivers search street by street and add to the jam.</a:t>
            </a:r>
            <a:endParaRPr lang="en-US" sz="1400" dirty="0"/>
          </a:p>
        </p:txBody>
      </p:sp>
      <p:sp>
        <p:nvSpPr>
          <p:cNvPr id="9" name="Problem card 2"/>
          <p:cNvSpPr/>
          <p:nvPr/>
        </p:nvSpPr>
        <p:spPr>
          <a:xfrm>
            <a:off x="3364992" y="1920240"/>
            <a:ext cx="2606040" cy="4114800"/>
          </a:xfrm>
          <a:prstGeom prst="roundRect">
            <a:avLst>
              <a:gd name="adj" fmla="val 280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sp>
        <p:nvSpPr>
          <p:cNvPr id="10" name="Problem 2 circle"/>
          <p:cNvSpPr/>
          <p:nvPr/>
        </p:nvSpPr>
        <p:spPr>
          <a:xfrm>
            <a:off x="3639312" y="2240280"/>
            <a:ext cx="731520" cy="731520"/>
          </a:xfrm>
          <a:prstGeom prst="ellipse">
            <a:avLst/>
          </a:prstGeom>
          <a:solidFill>
            <a:schemeClr val="accent3"/>
          </a:solidFill>
          <a:ln/>
        </p:spPr>
      </p:sp>
      <p:pic>
        <p:nvPicPr>
          <p:cNvPr id="11" name="Problem 2 icon" descr="preencoded.png">    </p:cNvPr>
          <p:cNvPicPr>
            <a:picLocks noChangeAspect="1"/>
          </p:cNvPicPr>
          <p:nvPr/>
        </p:nvPicPr>
        <p:blipFill>
          <a:blip r:embed="rId2"/>
          <a:stretch>
            <a:fillRect/>
          </a:stretch>
        </p:blipFill>
        <p:spPr>
          <a:xfrm>
            <a:off x="3800246" y="2401214"/>
            <a:ext cx="409651" cy="409651"/>
          </a:xfrm>
          <a:prstGeom prst="rect">
            <a:avLst/>
          </a:prstGeom>
        </p:spPr>
      </p:pic>
      <p:sp>
        <p:nvSpPr>
          <p:cNvPr id="12" name="Text 8"/>
          <p:cNvSpPr txBox="1"/>
          <p:nvPr/>
        </p:nvSpPr>
        <p:spPr>
          <a:xfrm>
            <a:off x="3639312" y="3154680"/>
            <a:ext cx="2057400" cy="731520"/>
          </a:xfrm>
          <a:prstGeom prst="rect">
            <a:avLst/>
          </a:prstGeom>
          <a:noFill/>
          <a:ln/>
        </p:spPr>
        <p:txBody>
          <a:bodyPr wrap="square" lIns="0" tIns="0" rIns="0" bIns="0" rtlCol="0" anchor="t"/>
          <a:lstStyle/>
          <a:p>
            <a:pPr indent="0" marL="0">
              <a:buNone/>
            </a:pPr>
            <a:r>
              <a:rPr lang="en-US" sz="1700" b="1" dirty="0">
                <a:solidFill>
                  <a:schemeClr val="tx1"/>
                </a:solidFill>
              </a:rPr>
              <a:t>Illegal parking blocks traffic</a:t>
            </a:r>
            <a:endParaRPr lang="en-US" sz="1700" dirty="0"/>
          </a:p>
        </p:txBody>
      </p:sp>
      <p:sp>
        <p:nvSpPr>
          <p:cNvPr id="13" name="Text 9"/>
          <p:cNvSpPr txBox="1"/>
          <p:nvPr/>
        </p:nvSpPr>
        <p:spPr>
          <a:xfrm>
            <a:off x="3639312" y="3931920"/>
            <a:ext cx="2057400" cy="1920240"/>
          </a:xfrm>
          <a:prstGeom prst="rect">
            <a:avLst/>
          </a:prstGeom>
          <a:noFill/>
          <a:ln/>
        </p:spPr>
        <p:txBody>
          <a:bodyPr wrap="square" lIns="0" tIns="0" rIns="0" bIns="0" rtlCol="0" anchor="t"/>
          <a:lstStyle/>
          <a:p>
            <a:pPr indent="0" marL="0">
              <a:buNone/>
            </a:pPr>
            <a:r>
              <a:rPr lang="en-US" sz="1400" dirty="0">
                <a:solidFill>
                  <a:schemeClr val="tx2"/>
                </a:solidFill>
              </a:rPr>
              <a:t>Vehicles left at City Chowk, Gole Market and station roads choke junctions. Enforcement relies on patrols that cannot be everywhere.</a:t>
            </a:r>
            <a:endParaRPr lang="en-US" sz="1400" dirty="0"/>
          </a:p>
        </p:txBody>
      </p:sp>
      <p:sp>
        <p:nvSpPr>
          <p:cNvPr id="14" name="Problem card 3"/>
          <p:cNvSpPr/>
          <p:nvPr/>
        </p:nvSpPr>
        <p:spPr>
          <a:xfrm>
            <a:off x="6181344" y="1920240"/>
            <a:ext cx="2606040" cy="4114800"/>
          </a:xfrm>
          <a:prstGeom prst="roundRect">
            <a:avLst>
              <a:gd name="adj" fmla="val 280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sp>
        <p:nvSpPr>
          <p:cNvPr id="15" name="Problem 3 circle"/>
          <p:cNvSpPr/>
          <p:nvPr/>
        </p:nvSpPr>
        <p:spPr>
          <a:xfrm>
            <a:off x="6455664" y="2240280"/>
            <a:ext cx="731520" cy="731520"/>
          </a:xfrm>
          <a:prstGeom prst="ellipse">
            <a:avLst/>
          </a:prstGeom>
          <a:solidFill>
            <a:schemeClr val="accent1"/>
          </a:solidFill>
          <a:ln/>
        </p:spPr>
      </p:sp>
      <p:pic>
        <p:nvPicPr>
          <p:cNvPr id="16" name="Problem 3 icon" descr="preencoded.png">    </p:cNvPr>
          <p:cNvPicPr>
            <a:picLocks noChangeAspect="1"/>
          </p:cNvPicPr>
          <p:nvPr/>
        </p:nvPicPr>
        <p:blipFill>
          <a:blip r:embed="rId3"/>
          <a:stretch>
            <a:fillRect/>
          </a:stretch>
        </p:blipFill>
        <p:spPr>
          <a:xfrm>
            <a:off x="6616598" y="2401214"/>
            <a:ext cx="409651" cy="409651"/>
          </a:xfrm>
          <a:prstGeom prst="rect">
            <a:avLst/>
          </a:prstGeom>
        </p:spPr>
      </p:pic>
      <p:sp>
        <p:nvSpPr>
          <p:cNvPr id="17" name="Text 12"/>
          <p:cNvSpPr txBox="1"/>
          <p:nvPr/>
        </p:nvSpPr>
        <p:spPr>
          <a:xfrm>
            <a:off x="6455664" y="3154680"/>
            <a:ext cx="2057400" cy="731520"/>
          </a:xfrm>
          <a:prstGeom prst="rect">
            <a:avLst/>
          </a:prstGeom>
          <a:noFill/>
          <a:ln/>
        </p:spPr>
        <p:txBody>
          <a:bodyPr wrap="square" lIns="0" tIns="0" rIns="0" bIns="0" rtlCol="0" anchor="t"/>
          <a:lstStyle/>
          <a:p>
            <a:pPr indent="0" marL="0">
              <a:buNone/>
            </a:pPr>
            <a:r>
              <a:rPr lang="en-US" sz="1700" b="1" dirty="0">
                <a:solidFill>
                  <a:schemeClr val="tx1"/>
                </a:solidFill>
              </a:rPr>
              <a:t>Pilgrim and festival surges</a:t>
            </a:r>
            <a:endParaRPr lang="en-US" sz="1700" dirty="0"/>
          </a:p>
        </p:txBody>
      </p:sp>
      <p:sp>
        <p:nvSpPr>
          <p:cNvPr id="18" name="Text 13"/>
          <p:cNvSpPr txBox="1"/>
          <p:nvPr/>
        </p:nvSpPr>
        <p:spPr>
          <a:xfrm>
            <a:off x="6455664" y="3931920"/>
            <a:ext cx="2057400" cy="1920240"/>
          </a:xfrm>
          <a:prstGeom prst="rect">
            <a:avLst/>
          </a:prstGeom>
          <a:noFill/>
          <a:ln/>
        </p:spPr>
        <p:txBody>
          <a:bodyPr wrap="square" lIns="0" tIns="0" rIns="0" bIns="0" rtlCol="0" anchor="t"/>
          <a:lstStyle/>
          <a:p>
            <a:pPr indent="0" marL="0">
              <a:buNone/>
            </a:pPr>
            <a:r>
              <a:rPr lang="en-US" sz="1400" dirty="0">
                <a:solidFill>
                  <a:schemeClr val="tx2"/>
                </a:solidFill>
              </a:rPr>
              <a:t>Vaishno Devi pilgrims, Navratri and Diwali bring visitors who do not know the city, all arriving at the railway station and bus stand.</a:t>
            </a:r>
            <a:endParaRPr lang="en-US" sz="1400" dirty="0"/>
          </a:p>
        </p:txBody>
      </p:sp>
      <p:sp>
        <p:nvSpPr>
          <p:cNvPr id="19" name="Problem card 4"/>
          <p:cNvSpPr/>
          <p:nvPr/>
        </p:nvSpPr>
        <p:spPr>
          <a:xfrm>
            <a:off x="8997696" y="1920240"/>
            <a:ext cx="2606040" cy="4114800"/>
          </a:xfrm>
          <a:prstGeom prst="roundRect">
            <a:avLst>
              <a:gd name="adj" fmla="val 280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sp>
        <p:nvSpPr>
          <p:cNvPr id="20" name="Problem 4 circle"/>
          <p:cNvSpPr/>
          <p:nvPr/>
        </p:nvSpPr>
        <p:spPr>
          <a:xfrm>
            <a:off x="9272016" y="2240280"/>
            <a:ext cx="731520" cy="731520"/>
          </a:xfrm>
          <a:prstGeom prst="ellipse">
            <a:avLst/>
          </a:prstGeom>
          <a:solidFill>
            <a:schemeClr val="tx2"/>
          </a:solidFill>
          <a:ln/>
        </p:spPr>
      </p:sp>
      <p:pic>
        <p:nvPicPr>
          <p:cNvPr id="21" name="Problem 4 icon" descr="preencoded.png">    </p:cNvPr>
          <p:cNvPicPr>
            <a:picLocks noChangeAspect="1"/>
          </p:cNvPicPr>
          <p:nvPr/>
        </p:nvPicPr>
        <p:blipFill>
          <a:blip r:embed="rId4"/>
          <a:stretch>
            <a:fillRect/>
          </a:stretch>
        </p:blipFill>
        <p:spPr>
          <a:xfrm>
            <a:off x="9432950" y="2401214"/>
            <a:ext cx="409651" cy="409651"/>
          </a:xfrm>
          <a:prstGeom prst="rect">
            <a:avLst/>
          </a:prstGeom>
        </p:spPr>
      </p:pic>
      <p:sp>
        <p:nvSpPr>
          <p:cNvPr id="22" name="Text 16"/>
          <p:cNvSpPr txBox="1"/>
          <p:nvPr/>
        </p:nvSpPr>
        <p:spPr>
          <a:xfrm>
            <a:off x="9272016" y="3154680"/>
            <a:ext cx="2057400" cy="731520"/>
          </a:xfrm>
          <a:prstGeom prst="rect">
            <a:avLst/>
          </a:prstGeom>
          <a:noFill/>
          <a:ln/>
        </p:spPr>
        <p:txBody>
          <a:bodyPr wrap="square" lIns="0" tIns="0" rIns="0" bIns="0" rtlCol="0" anchor="t"/>
          <a:lstStyle/>
          <a:p>
            <a:pPr indent="0" marL="0">
              <a:buNone/>
            </a:pPr>
            <a:r>
              <a:rPr lang="en-US" sz="1700" b="1" dirty="0">
                <a:solidFill>
                  <a:schemeClr val="tx1"/>
                </a:solidFill>
              </a:rPr>
              <a:t>The city plans without data</a:t>
            </a:r>
            <a:endParaRPr lang="en-US" sz="1700" dirty="0"/>
          </a:p>
        </p:txBody>
      </p:sp>
      <p:sp>
        <p:nvSpPr>
          <p:cNvPr id="23" name="Text 17"/>
          <p:cNvSpPr txBox="1"/>
          <p:nvPr/>
        </p:nvSpPr>
        <p:spPr>
          <a:xfrm>
            <a:off x="9272016" y="3931920"/>
            <a:ext cx="2057400" cy="1920240"/>
          </a:xfrm>
          <a:prstGeom prst="rect">
            <a:avLst/>
          </a:prstGeom>
          <a:noFill/>
          <a:ln/>
        </p:spPr>
        <p:txBody>
          <a:bodyPr wrap="square" lIns="0" tIns="0" rIns="0" bIns="0" rtlCol="0" anchor="t"/>
          <a:lstStyle/>
          <a:p>
            <a:pPr indent="0" marL="0">
              <a:buNone/>
            </a:pPr>
            <a:r>
              <a:rPr lang="en-US" sz="1400" dirty="0">
                <a:solidFill>
                  <a:schemeClr val="tx2"/>
                </a:solidFill>
              </a:rPr>
              <a:t>JMC and JSCL have no hour-by-hour view of where and when lots fill, or how much parking fee goes uncollected.</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camera feed, three jobs</a:t>
            </a:r>
            <a:endParaRPr lang="en-US" sz="3200" dirty="0"/>
          </a:p>
        </p:txBody>
      </p:sp>
      <p:sp>
        <p:nvSpPr>
          <p:cNvPr id="3" name="Solution 1 circle"/>
          <p:cNvSpPr/>
          <p:nvPr/>
        </p:nvSpPr>
        <p:spPr>
          <a:xfrm>
            <a:off x="548640" y="1417320"/>
            <a:ext cx="914400" cy="914400"/>
          </a:xfrm>
          <a:prstGeom prst="ellipse">
            <a:avLst/>
          </a:prstGeom>
          <a:solidFill>
            <a:schemeClr val="accent1"/>
          </a:solidFill>
          <a:ln/>
        </p:spPr>
      </p:sp>
      <p:pic>
        <p:nvPicPr>
          <p:cNvPr id="4" name="Solution 1 icon" descr="preencoded.png">    </p:cNvPr>
          <p:cNvPicPr>
            <a:picLocks noChangeAspect="1"/>
          </p:cNvPicPr>
          <p:nvPr/>
        </p:nvPicPr>
        <p:blipFill>
          <a:blip r:embed="rId1"/>
          <a:stretch>
            <a:fillRect/>
          </a:stretch>
        </p:blipFill>
        <p:spPr>
          <a:xfrm>
            <a:off x="749808" y="1618488"/>
            <a:ext cx="512064" cy="512064"/>
          </a:xfrm>
          <a:prstGeom prst="rect">
            <a:avLst/>
          </a:prstGeom>
        </p:spPr>
      </p:pic>
      <p:sp>
        <p:nvSpPr>
          <p:cNvPr id="5" name="Text 2"/>
          <p:cNvSpPr txBox="1"/>
          <p:nvPr/>
        </p:nvSpPr>
        <p:spPr>
          <a:xfrm>
            <a:off x="1737360" y="1435608"/>
            <a:ext cx="5486400" cy="411480"/>
          </a:xfrm>
          <a:prstGeom prst="rect">
            <a:avLst/>
          </a:prstGeom>
          <a:noFill/>
          <a:ln/>
        </p:spPr>
        <p:txBody>
          <a:bodyPr wrap="square" lIns="0" tIns="0" rIns="0" bIns="0" rtlCol="0" anchor="t"/>
          <a:lstStyle/>
          <a:p>
            <a:pPr indent="0" marL="0">
              <a:buNone/>
            </a:pPr>
            <a:r>
              <a:rPr lang="en-US" sz="2000" b="1" dirty="0">
                <a:solidFill>
                  <a:schemeClr val="tx1"/>
                </a:solidFill>
              </a:rPr>
              <a:t>Citizens and pilgrims</a:t>
            </a:r>
            <a:endParaRPr lang="en-US" sz="2000" dirty="0"/>
          </a:p>
        </p:txBody>
      </p:sp>
      <p:sp>
        <p:nvSpPr>
          <p:cNvPr id="6" name="Text 3"/>
          <p:cNvSpPr txBox="1"/>
          <p:nvPr/>
        </p:nvSpPr>
        <p:spPr>
          <a:xfrm>
            <a:off x="1737360" y="1874520"/>
            <a:ext cx="5486400" cy="914400"/>
          </a:xfrm>
          <a:prstGeom prst="rect">
            <a:avLst/>
          </a:prstGeom>
          <a:noFill/>
          <a:ln/>
        </p:spPr>
        <p:txBody>
          <a:bodyPr wrap="square" lIns="0" tIns="0" rIns="0" bIns="0" rtlCol="0" anchor="t"/>
          <a:lstStyle/>
          <a:p>
            <a:pPr indent="0" marL="0">
              <a:buNone/>
            </a:pPr>
            <a:r>
              <a:rPr lang="en-US" sz="1500" dirty="0">
                <a:solidFill>
                  <a:schemeClr val="tx2"/>
                </a:solidFill>
              </a:rPr>
              <a:t>Free-bay counts on a web map and a WhatsApp bot in Hindi, Dogri, Urdu and English. Reply 1, 2 or 3 for directions. No app to install.</a:t>
            </a:r>
            <a:endParaRPr lang="en-US" sz="1500" dirty="0"/>
          </a:p>
        </p:txBody>
      </p:sp>
      <p:sp>
        <p:nvSpPr>
          <p:cNvPr id="7" name="Solution 2 circle"/>
          <p:cNvSpPr/>
          <p:nvPr/>
        </p:nvSpPr>
        <p:spPr>
          <a:xfrm>
            <a:off x="548640" y="3017520"/>
            <a:ext cx="914400" cy="914400"/>
          </a:xfrm>
          <a:prstGeom prst="ellipse">
            <a:avLst/>
          </a:prstGeom>
          <a:solidFill>
            <a:schemeClr val="accent3"/>
          </a:solidFill>
          <a:ln/>
        </p:spPr>
      </p:sp>
      <p:pic>
        <p:nvPicPr>
          <p:cNvPr id="8" name="Solution 2 icon" descr="preencoded.png">    </p:cNvPr>
          <p:cNvPicPr>
            <a:picLocks noChangeAspect="1"/>
          </p:cNvPicPr>
          <p:nvPr/>
        </p:nvPicPr>
        <p:blipFill>
          <a:blip r:embed="rId2"/>
          <a:stretch>
            <a:fillRect/>
          </a:stretch>
        </p:blipFill>
        <p:spPr>
          <a:xfrm>
            <a:off x="749808" y="3218688"/>
            <a:ext cx="512064" cy="512064"/>
          </a:xfrm>
          <a:prstGeom prst="rect">
            <a:avLst/>
          </a:prstGeom>
        </p:spPr>
      </p:pic>
      <p:sp>
        <p:nvSpPr>
          <p:cNvPr id="9" name="Text 5"/>
          <p:cNvSpPr txBox="1"/>
          <p:nvPr/>
        </p:nvSpPr>
        <p:spPr>
          <a:xfrm>
            <a:off x="1737360" y="3035808"/>
            <a:ext cx="5486400" cy="411480"/>
          </a:xfrm>
          <a:prstGeom prst="rect">
            <a:avLst/>
          </a:prstGeom>
          <a:noFill/>
          <a:ln/>
        </p:spPr>
        <p:txBody>
          <a:bodyPr wrap="square" lIns="0" tIns="0" rIns="0" bIns="0" rtlCol="0" anchor="t"/>
          <a:lstStyle/>
          <a:p>
            <a:pPr indent="0" marL="0">
              <a:buNone/>
            </a:pPr>
            <a:r>
              <a:rPr lang="en-US" sz="2000" b="1" dirty="0">
                <a:solidFill>
                  <a:schemeClr val="tx1"/>
                </a:solidFill>
              </a:rPr>
              <a:t>Traffic police</a:t>
            </a:r>
            <a:endParaRPr lang="en-US" sz="2000" dirty="0"/>
          </a:p>
        </p:txBody>
      </p:sp>
      <p:sp>
        <p:nvSpPr>
          <p:cNvPr id="10" name="Text 6"/>
          <p:cNvSpPr txBox="1"/>
          <p:nvPr/>
        </p:nvSpPr>
        <p:spPr>
          <a:xfrm>
            <a:off x="1737360" y="3474720"/>
            <a:ext cx="5486400" cy="914400"/>
          </a:xfrm>
          <a:prstGeom prst="rect">
            <a:avLst/>
          </a:prstGeom>
          <a:noFill/>
          <a:ln/>
        </p:spPr>
        <p:txBody>
          <a:bodyPr wrap="square" lIns="0" tIns="0" rIns="0" bIns="0" rtlCol="0" anchor="t"/>
          <a:lstStyle/>
          <a:p>
            <a:pPr indent="0" marL="0">
              <a:buNone/>
            </a:pPr>
            <a:r>
              <a:rPr lang="en-US" sz="1500" dirty="0">
                <a:solidFill>
                  <a:schemeClr val="tx2"/>
                </a:solidFill>
              </a:rPr>
              <a:t>An automatic alert when a vehicle stays in a no-parking zone past 5 minutes, with location and vehicle type.</a:t>
            </a:r>
            <a:endParaRPr lang="en-US" sz="1500" dirty="0"/>
          </a:p>
        </p:txBody>
      </p:sp>
      <p:sp>
        <p:nvSpPr>
          <p:cNvPr id="11" name="Solution 3 circle"/>
          <p:cNvSpPr/>
          <p:nvPr/>
        </p:nvSpPr>
        <p:spPr>
          <a:xfrm>
            <a:off x="548640" y="4617720"/>
            <a:ext cx="914400" cy="914400"/>
          </a:xfrm>
          <a:prstGeom prst="ellipse">
            <a:avLst/>
          </a:prstGeom>
          <a:solidFill>
            <a:schemeClr val="accent2"/>
          </a:solidFill>
          <a:ln/>
        </p:spPr>
      </p:sp>
      <p:pic>
        <p:nvPicPr>
          <p:cNvPr id="12" name="Solution 3 icon" descr="preencoded.png">    </p:cNvPr>
          <p:cNvPicPr>
            <a:picLocks noChangeAspect="1"/>
          </p:cNvPicPr>
          <p:nvPr/>
        </p:nvPicPr>
        <p:blipFill>
          <a:blip r:embed="rId3"/>
          <a:stretch>
            <a:fillRect/>
          </a:stretch>
        </p:blipFill>
        <p:spPr>
          <a:xfrm>
            <a:off x="749808" y="4818888"/>
            <a:ext cx="512064" cy="512064"/>
          </a:xfrm>
          <a:prstGeom prst="rect">
            <a:avLst/>
          </a:prstGeom>
        </p:spPr>
      </p:pic>
      <p:sp>
        <p:nvSpPr>
          <p:cNvPr id="13" name="Text 8"/>
          <p:cNvSpPr txBox="1"/>
          <p:nvPr/>
        </p:nvSpPr>
        <p:spPr>
          <a:xfrm>
            <a:off x="1737360" y="4636008"/>
            <a:ext cx="5486400" cy="411480"/>
          </a:xfrm>
          <a:prstGeom prst="rect">
            <a:avLst/>
          </a:prstGeom>
          <a:noFill/>
          <a:ln/>
        </p:spPr>
        <p:txBody>
          <a:bodyPr wrap="square" lIns="0" tIns="0" rIns="0" bIns="0" rtlCol="0" anchor="t"/>
          <a:lstStyle/>
          <a:p>
            <a:pPr indent="0" marL="0">
              <a:buNone/>
            </a:pPr>
            <a:r>
              <a:rPr lang="en-US" sz="2000" b="1" dirty="0">
                <a:solidFill>
                  <a:schemeClr val="tx1"/>
                </a:solidFill>
              </a:rPr>
              <a:t>JMC and JSCL planners</a:t>
            </a:r>
            <a:endParaRPr lang="en-US" sz="2000" dirty="0"/>
          </a:p>
        </p:txBody>
      </p:sp>
      <p:sp>
        <p:nvSpPr>
          <p:cNvPr id="14" name="Text 9"/>
          <p:cNvSpPr txBox="1"/>
          <p:nvPr/>
        </p:nvSpPr>
        <p:spPr>
          <a:xfrm>
            <a:off x="1737360" y="5074920"/>
            <a:ext cx="5486400" cy="914400"/>
          </a:xfrm>
          <a:prstGeom prst="rect">
            <a:avLst/>
          </a:prstGeom>
          <a:noFill/>
          <a:ln/>
        </p:spPr>
        <p:txBody>
          <a:bodyPr wrap="square" lIns="0" tIns="0" rIns="0" bIns="0" rtlCol="0" anchor="t"/>
          <a:lstStyle/>
          <a:p>
            <a:pPr indent="0" marL="0">
              <a:buNone/>
            </a:pPr>
            <a:r>
              <a:rPr lang="en-US" sz="1500" dirty="0">
                <a:solidFill>
                  <a:schemeClr val="tx2"/>
                </a:solidFill>
              </a:rPr>
              <a:t>Hour-by-hour fill patterns, a 6-hour forecast per zone, enforcement hotspots and an estimate of uncollected fees.</a:t>
            </a:r>
            <a:endParaRPr lang="en-US" sz="1500" dirty="0"/>
          </a:p>
        </p:txBody>
      </p:sp>
      <p:pic>
        <p:nvPicPr>
          <p:cNvPr id="15" name="Citizen map screenshot" descr="/tmp/claude-0/pdfbuild/citizen.jpg">    </p:cNvPr>
          <p:cNvPicPr>
            <a:picLocks noChangeAspect="1"/>
          </p:cNvPicPr>
          <p:nvPr/>
        </p:nvPicPr>
        <p:blipFill>
          <a:blip r:embed="rId4"/>
          <a:stretch>
            <a:fillRect/>
          </a:stretch>
        </p:blipFill>
        <p:spPr>
          <a:xfrm>
            <a:off x="7543800" y="2371725"/>
            <a:ext cx="4114800" cy="2571750"/>
          </a:xfrm>
          <a:prstGeom prst="rect">
            <a:avLst/>
          </a:prstGeom>
        </p:spPr>
      </p:pic>
      <p:sp>
        <p:nvSpPr>
          <p:cNvPr id="16" name="Text 10"/>
          <p:cNvSpPr txBox="1"/>
          <p:nvPr/>
        </p:nvSpPr>
        <p:spPr>
          <a:xfrm>
            <a:off x="7543800" y="5897880"/>
            <a:ext cx="4114800" cy="274320"/>
          </a:xfrm>
          <a:prstGeom prst="rect">
            <a:avLst/>
          </a:prstGeom>
          <a:noFill/>
          <a:ln/>
        </p:spPr>
        <p:txBody>
          <a:bodyPr wrap="square" lIns="0" tIns="0" rIns="0" bIns="0" rtlCol="0" anchor="t"/>
          <a:lstStyle/>
          <a:p>
            <a:pPr algn="ctr" indent="0" marL="0">
              <a:buNone/>
            </a:pPr>
            <a:r>
              <a:rPr lang="en-US" sz="1100" dirty="0">
                <a:solidFill>
                  <a:schemeClr val="tx2"/>
                </a:solidFill>
              </a:rPr>
              <a:t>Citizen map, live in the prototype</a:t>
            </a:r>
            <a:endParaRPr lang="en-US" sz="11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How it works</a:t>
            </a:r>
            <a:endParaRPr lang="en-US" sz="3200" dirty="0"/>
          </a:p>
        </p:txBody>
      </p:sp>
      <p:sp>
        <p:nvSpPr>
          <p:cNvPr id="3" name="Architecture frame"/>
          <p:cNvSpPr/>
          <p:nvPr/>
        </p:nvSpPr>
        <p:spPr>
          <a:xfrm>
            <a:off x="548640" y="1280160"/>
            <a:ext cx="11064240" cy="2743200"/>
          </a:xfrm>
          <a:prstGeom prst="roundRect">
            <a:avLst>
              <a:gd name="adj" fmla="val 266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pic>
        <p:nvPicPr>
          <p:cNvPr id="4" name="Architecture diagram" descr="/tmp/claude-0/pdfbuild/arch.jpg">    </p:cNvPr>
          <p:cNvPicPr>
            <a:picLocks noChangeAspect="1"/>
          </p:cNvPicPr>
          <p:nvPr/>
        </p:nvPicPr>
        <p:blipFill>
          <a:blip r:embed="rId1"/>
          <a:stretch>
            <a:fillRect/>
          </a:stretch>
        </p:blipFill>
        <p:spPr>
          <a:xfrm>
            <a:off x="2068863" y="1371600"/>
            <a:ext cx="8023795" cy="2560320"/>
          </a:xfrm>
          <a:prstGeom prst="rect">
            <a:avLst/>
          </a:prstGeom>
        </p:spPr>
      </p:pic>
      <p:sp>
        <p:nvSpPr>
          <p:cNvPr id="5" name="Layer 1 circle"/>
          <p:cNvSpPr/>
          <p:nvPr/>
        </p:nvSpPr>
        <p:spPr>
          <a:xfrm>
            <a:off x="548640" y="4297680"/>
            <a:ext cx="548640" cy="548640"/>
          </a:xfrm>
          <a:prstGeom prst="ellipse">
            <a:avLst/>
          </a:prstGeom>
          <a:solidFill>
            <a:schemeClr val="accent1"/>
          </a:solidFill>
          <a:ln/>
        </p:spPr>
      </p:sp>
      <p:pic>
        <p:nvPicPr>
          <p:cNvPr id="6" name="Layer 1 icon" descr="preencoded.png">    </p:cNvPr>
          <p:cNvPicPr>
            <a:picLocks noChangeAspect="1"/>
          </p:cNvPicPr>
          <p:nvPr/>
        </p:nvPicPr>
        <p:blipFill>
          <a:blip r:embed="rId2"/>
          <a:stretch>
            <a:fillRect/>
          </a:stretch>
        </p:blipFill>
        <p:spPr>
          <a:xfrm>
            <a:off x="669341" y="4418381"/>
            <a:ext cx="307238" cy="307238"/>
          </a:xfrm>
          <a:prstGeom prst="rect">
            <a:avLst/>
          </a:prstGeom>
        </p:spPr>
      </p:pic>
      <p:sp>
        <p:nvSpPr>
          <p:cNvPr id="7" name="Text 3"/>
          <p:cNvSpPr txBox="1"/>
          <p:nvPr/>
        </p:nvSpPr>
        <p:spPr>
          <a:xfrm>
            <a:off x="1234440" y="4315968"/>
            <a:ext cx="2834640" cy="502920"/>
          </a:xfrm>
          <a:prstGeom prst="rect">
            <a:avLst/>
          </a:prstGeom>
          <a:noFill/>
          <a:ln/>
        </p:spPr>
        <p:txBody>
          <a:bodyPr wrap="square" lIns="0" tIns="0" rIns="0" bIns="0" rtlCol="0" anchor="ctr"/>
          <a:lstStyle/>
          <a:p>
            <a:pPr indent="0" marL="0">
              <a:buNone/>
            </a:pPr>
            <a:r>
              <a:rPr lang="en-US" sz="1600" b="1" dirty="0">
                <a:solidFill>
                  <a:schemeClr val="tx1"/>
                </a:solidFill>
              </a:rPr>
              <a:t>Edge, next to the camera</a:t>
            </a:r>
            <a:endParaRPr lang="en-US" sz="1600" dirty="0"/>
          </a:p>
        </p:txBody>
      </p:sp>
      <p:sp>
        <p:nvSpPr>
          <p:cNvPr id="8" name="Text 4"/>
          <p:cNvSpPr txBox="1"/>
          <p:nvPr/>
        </p:nvSpPr>
        <p:spPr>
          <a:xfrm>
            <a:off x="548640" y="4937760"/>
            <a:ext cx="3474720" cy="1280160"/>
          </a:xfrm>
          <a:prstGeom prst="rect">
            <a:avLst/>
          </a:prstGeom>
          <a:noFill/>
          <a:ln/>
        </p:spPr>
        <p:txBody>
          <a:bodyPr wrap="square" lIns="0" tIns="0" rIns="0" bIns="0" rtlCol="0" anchor="t"/>
          <a:lstStyle/>
          <a:p>
            <a:pPr indent="0" marL="0">
              <a:buNone/>
            </a:pPr>
            <a:r>
              <a:rPr lang="en-US" sz="1300" dirty="0">
                <a:solidFill>
                  <a:schemeClr val="tx2"/>
                </a:solidFill>
              </a:rPr>
              <a:t>Raspberry Pi 5 or Jetson Orin Nano. OpenCV slot counter by default, optional YOLO for hard angles. Faces and plates blurred on the device; only counts leave it.</a:t>
            </a:r>
            <a:endParaRPr lang="en-US" sz="1300" dirty="0"/>
          </a:p>
        </p:txBody>
      </p:sp>
      <p:sp>
        <p:nvSpPr>
          <p:cNvPr id="9" name="Layer 2 circle"/>
          <p:cNvSpPr/>
          <p:nvPr/>
        </p:nvSpPr>
        <p:spPr>
          <a:xfrm>
            <a:off x="4297680" y="4297680"/>
            <a:ext cx="548640" cy="548640"/>
          </a:xfrm>
          <a:prstGeom prst="ellipse">
            <a:avLst/>
          </a:prstGeom>
          <a:solidFill>
            <a:schemeClr val="accent1"/>
          </a:solidFill>
          <a:ln/>
        </p:spPr>
      </p:sp>
      <p:pic>
        <p:nvPicPr>
          <p:cNvPr id="10" name="Layer 2 icon" descr="preencoded.png">    </p:cNvPr>
          <p:cNvPicPr>
            <a:picLocks noChangeAspect="1"/>
          </p:cNvPicPr>
          <p:nvPr/>
        </p:nvPicPr>
        <p:blipFill>
          <a:blip r:embed="rId3"/>
          <a:stretch>
            <a:fillRect/>
          </a:stretch>
        </p:blipFill>
        <p:spPr>
          <a:xfrm>
            <a:off x="4418381" y="4418381"/>
            <a:ext cx="307238" cy="307238"/>
          </a:xfrm>
          <a:prstGeom prst="rect">
            <a:avLst/>
          </a:prstGeom>
        </p:spPr>
      </p:pic>
      <p:sp>
        <p:nvSpPr>
          <p:cNvPr id="11" name="Text 6"/>
          <p:cNvSpPr txBox="1"/>
          <p:nvPr/>
        </p:nvSpPr>
        <p:spPr>
          <a:xfrm>
            <a:off x="4983480" y="4315968"/>
            <a:ext cx="2834640" cy="502920"/>
          </a:xfrm>
          <a:prstGeom prst="rect">
            <a:avLst/>
          </a:prstGeom>
          <a:noFill/>
          <a:ln/>
        </p:spPr>
        <p:txBody>
          <a:bodyPr wrap="square" lIns="0" tIns="0" rIns="0" bIns="0" rtlCol="0" anchor="ctr"/>
          <a:lstStyle/>
          <a:p>
            <a:pPr indent="0" marL="0">
              <a:buNone/>
            </a:pPr>
            <a:r>
              <a:rPr lang="en-US" sz="1600" b="1" dirty="0">
                <a:solidFill>
                  <a:schemeClr val="tx1"/>
                </a:solidFill>
              </a:rPr>
              <a:t>City service</a:t>
            </a:r>
            <a:endParaRPr lang="en-US" sz="1600" dirty="0"/>
          </a:p>
        </p:txBody>
      </p:sp>
      <p:sp>
        <p:nvSpPr>
          <p:cNvPr id="12" name="Text 7"/>
          <p:cNvSpPr txBox="1"/>
          <p:nvPr/>
        </p:nvSpPr>
        <p:spPr>
          <a:xfrm>
            <a:off x="4297680" y="4937760"/>
            <a:ext cx="3474720" cy="1280160"/>
          </a:xfrm>
          <a:prstGeom prst="rect">
            <a:avLst/>
          </a:prstGeom>
          <a:noFill/>
          <a:ln/>
        </p:spPr>
        <p:txBody>
          <a:bodyPr wrap="square" lIns="0" tIns="0" rIns="0" bIns="0" rtlCol="0" anchor="t"/>
          <a:lstStyle/>
          <a:p>
            <a:pPr indent="0" marL="0">
              <a:buNone/>
            </a:pPr>
            <a:r>
              <a:rPr lang="en-US" sz="1300" dirty="0">
                <a:solidFill>
                  <a:schemeClr val="tx2"/>
                </a:solidFill>
              </a:rPr>
              <a:t>Python and FastAPI keep live occupancy, run per-zone forecasts with gradient boosting and raise alerts. Ships as one Docker image.</a:t>
            </a:r>
            <a:endParaRPr lang="en-US" sz="1300" dirty="0"/>
          </a:p>
        </p:txBody>
      </p:sp>
      <p:sp>
        <p:nvSpPr>
          <p:cNvPr id="13" name="Layer 3 circle"/>
          <p:cNvSpPr/>
          <p:nvPr/>
        </p:nvSpPr>
        <p:spPr>
          <a:xfrm>
            <a:off x="8046720" y="4297680"/>
            <a:ext cx="548640" cy="548640"/>
          </a:xfrm>
          <a:prstGeom prst="ellipse">
            <a:avLst/>
          </a:prstGeom>
          <a:solidFill>
            <a:schemeClr val="accent1"/>
          </a:solidFill>
          <a:ln/>
        </p:spPr>
      </p:sp>
      <p:pic>
        <p:nvPicPr>
          <p:cNvPr id="14" name="Layer 3 icon" descr="preencoded.png">    </p:cNvPr>
          <p:cNvPicPr>
            <a:picLocks noChangeAspect="1"/>
          </p:cNvPicPr>
          <p:nvPr/>
        </p:nvPicPr>
        <p:blipFill>
          <a:blip r:embed="rId4"/>
          <a:stretch>
            <a:fillRect/>
          </a:stretch>
        </p:blipFill>
        <p:spPr>
          <a:xfrm>
            <a:off x="8167421" y="4418381"/>
            <a:ext cx="307238" cy="307238"/>
          </a:xfrm>
          <a:prstGeom prst="rect">
            <a:avLst/>
          </a:prstGeom>
        </p:spPr>
      </p:pic>
      <p:sp>
        <p:nvSpPr>
          <p:cNvPr id="15" name="Text 9"/>
          <p:cNvSpPr txBox="1"/>
          <p:nvPr/>
        </p:nvSpPr>
        <p:spPr>
          <a:xfrm>
            <a:off x="8732520" y="4315968"/>
            <a:ext cx="2834640" cy="502920"/>
          </a:xfrm>
          <a:prstGeom prst="rect">
            <a:avLst/>
          </a:prstGeom>
          <a:noFill/>
          <a:ln/>
        </p:spPr>
        <p:txBody>
          <a:bodyPr wrap="square" lIns="0" tIns="0" rIns="0" bIns="0" rtlCol="0" anchor="ctr"/>
          <a:lstStyle/>
          <a:p>
            <a:pPr indent="0" marL="0">
              <a:buNone/>
            </a:pPr>
            <a:r>
              <a:rPr lang="en-US" sz="1600" b="1" dirty="0">
                <a:solidFill>
                  <a:schemeClr val="tx1"/>
                </a:solidFill>
              </a:rPr>
              <a:t>People</a:t>
            </a:r>
            <a:endParaRPr lang="en-US" sz="1600" dirty="0"/>
          </a:p>
        </p:txBody>
      </p:sp>
      <p:sp>
        <p:nvSpPr>
          <p:cNvPr id="16" name="Text 10"/>
          <p:cNvSpPr txBox="1"/>
          <p:nvPr/>
        </p:nvSpPr>
        <p:spPr>
          <a:xfrm>
            <a:off x="8046720" y="4937760"/>
            <a:ext cx="3474720" cy="1280160"/>
          </a:xfrm>
          <a:prstGeom prst="rect">
            <a:avLst/>
          </a:prstGeom>
          <a:noFill/>
          <a:ln/>
        </p:spPr>
        <p:txBody>
          <a:bodyPr wrap="square" lIns="0" tIns="0" rIns="0" bIns="0" rtlCol="0" anchor="t"/>
          <a:lstStyle/>
          <a:p>
            <a:pPr indent="0" marL="0">
              <a:buNone/>
            </a:pPr>
            <a:r>
              <a:rPr lang="en-US" sz="1300" dirty="0">
                <a:solidFill>
                  <a:schemeClr val="tx2"/>
                </a:solidFill>
              </a:rPr>
              <a:t>WhatsApp Cloud API webhook, a Leaflet web map for citizens and a dashboard for officials. Works offline for demos.</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Ask in your language, get the nearest free bay</a:t>
            </a:r>
            <a:endParaRPr lang="en-US" sz="3200" dirty="0"/>
          </a:p>
        </p:txBody>
      </p:sp>
      <p:sp>
        <p:nvSpPr>
          <p:cNvPr id="3" name="Text 1"/>
          <p:cNvSpPr txBox="1"/>
          <p:nvPr/>
        </p:nvSpPr>
        <p:spPr>
          <a:xfrm>
            <a:off x="548640" y="1188720"/>
            <a:ext cx="10972800" cy="457200"/>
          </a:xfrm>
          <a:prstGeom prst="rect">
            <a:avLst/>
          </a:prstGeom>
          <a:noFill/>
          <a:ln/>
        </p:spPr>
        <p:txBody>
          <a:bodyPr wrap="square" lIns="0" tIns="0" rIns="0" bIns="0" rtlCol="0" anchor="t"/>
          <a:lstStyle/>
          <a:p>
            <a:pPr indent="0" marL="0">
              <a:buNone/>
            </a:pPr>
            <a:r>
              <a:rPr lang="en-US" sz="1600" dirty="0">
                <a:solidFill>
                  <a:schemeClr val="tx2"/>
                </a:solidFill>
              </a:rPr>
              <a:t>Type an area name (typos are fine) or share a location pin. The bot lists the three nearest zones with free bays, fee and walking time.</a:t>
            </a:r>
            <a:endParaRPr lang="en-US" sz="1600" dirty="0"/>
          </a:p>
        </p:txBody>
      </p:sp>
      <p:sp>
        <p:nvSpPr>
          <p:cNvPr id="4" name="Chat frame 1"/>
          <p:cNvSpPr/>
          <p:nvPr/>
        </p:nvSpPr>
        <p:spPr>
          <a:xfrm>
            <a:off x="548640" y="1828800"/>
            <a:ext cx="3520440" cy="3429000"/>
          </a:xfrm>
          <a:prstGeom prst="roundRect">
            <a:avLst>
              <a:gd name="adj" fmla="val 2133"/>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pic>
        <p:nvPicPr>
          <p:cNvPr id="5" name="Chat Hindi" descr="/tmp/claude-0/pdfbuild/chat_hi.jpg">    </p:cNvPr>
          <p:cNvPicPr>
            <a:picLocks noChangeAspect="1"/>
          </p:cNvPicPr>
          <p:nvPr/>
        </p:nvPicPr>
        <p:blipFill>
          <a:blip r:embed="rId1"/>
          <a:stretch>
            <a:fillRect/>
          </a:stretch>
        </p:blipFill>
        <p:spPr>
          <a:xfrm>
            <a:off x="640080" y="2060785"/>
            <a:ext cx="3337560" cy="2965031"/>
          </a:xfrm>
          <a:prstGeom prst="rect">
            <a:avLst/>
          </a:prstGeom>
        </p:spPr>
      </p:pic>
      <p:sp>
        <p:nvSpPr>
          <p:cNvPr id="6" name="Text 3"/>
          <p:cNvSpPr txBox="1"/>
          <p:nvPr/>
        </p:nvSpPr>
        <p:spPr>
          <a:xfrm>
            <a:off x="548640" y="5349240"/>
            <a:ext cx="3520440" cy="320040"/>
          </a:xfrm>
          <a:prstGeom prst="rect">
            <a:avLst/>
          </a:prstGeom>
          <a:noFill/>
          <a:ln/>
        </p:spPr>
        <p:txBody>
          <a:bodyPr wrap="square" lIns="0" tIns="0" rIns="0" bIns="0" rtlCol="0" anchor="t"/>
          <a:lstStyle/>
          <a:p>
            <a:pPr algn="ctr" indent="0" marL="0">
              <a:buNone/>
            </a:pPr>
            <a:r>
              <a:rPr lang="en-US" sz="1400" b="1" dirty="0">
                <a:solidFill>
                  <a:schemeClr val="tx1"/>
                </a:solidFill>
              </a:rPr>
              <a:t>Hindi</a:t>
            </a:r>
            <a:endParaRPr lang="en-US" sz="1400" dirty="0"/>
          </a:p>
        </p:txBody>
      </p:sp>
      <p:sp>
        <p:nvSpPr>
          <p:cNvPr id="7" name="Chat frame 2"/>
          <p:cNvSpPr/>
          <p:nvPr/>
        </p:nvSpPr>
        <p:spPr>
          <a:xfrm>
            <a:off x="4297680" y="1828800"/>
            <a:ext cx="3520440" cy="3429000"/>
          </a:xfrm>
          <a:prstGeom prst="roundRect">
            <a:avLst>
              <a:gd name="adj" fmla="val 2133"/>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pic>
        <p:nvPicPr>
          <p:cNvPr id="8" name="Chat Urdu, right to left" descr="/tmp/claude-0/pdfbuild/chat_ur.jpg">    </p:cNvPr>
          <p:cNvPicPr>
            <a:picLocks noChangeAspect="1"/>
          </p:cNvPicPr>
          <p:nvPr/>
        </p:nvPicPr>
        <p:blipFill>
          <a:blip r:embed="rId2"/>
          <a:stretch>
            <a:fillRect/>
          </a:stretch>
        </p:blipFill>
        <p:spPr>
          <a:xfrm>
            <a:off x="4389120" y="2060785"/>
            <a:ext cx="3337560" cy="2965031"/>
          </a:xfrm>
          <a:prstGeom prst="rect">
            <a:avLst/>
          </a:prstGeom>
        </p:spPr>
      </p:pic>
      <p:sp>
        <p:nvSpPr>
          <p:cNvPr id="9" name="Text 5"/>
          <p:cNvSpPr txBox="1"/>
          <p:nvPr/>
        </p:nvSpPr>
        <p:spPr>
          <a:xfrm>
            <a:off x="4297680" y="5349240"/>
            <a:ext cx="3520440" cy="320040"/>
          </a:xfrm>
          <a:prstGeom prst="rect">
            <a:avLst/>
          </a:prstGeom>
          <a:noFill/>
          <a:ln/>
        </p:spPr>
        <p:txBody>
          <a:bodyPr wrap="square" lIns="0" tIns="0" rIns="0" bIns="0" rtlCol="0" anchor="t"/>
          <a:lstStyle/>
          <a:p>
            <a:pPr algn="ctr" indent="0" marL="0">
              <a:buNone/>
            </a:pPr>
            <a:r>
              <a:rPr lang="en-US" sz="1400" b="1" dirty="0">
                <a:solidFill>
                  <a:schemeClr val="tx1"/>
                </a:solidFill>
              </a:rPr>
              <a:t>Urdu, right to left</a:t>
            </a:r>
            <a:endParaRPr lang="en-US" sz="1400" dirty="0"/>
          </a:p>
        </p:txBody>
      </p:sp>
      <p:sp>
        <p:nvSpPr>
          <p:cNvPr id="10" name="Chat frame 3"/>
          <p:cNvSpPr/>
          <p:nvPr/>
        </p:nvSpPr>
        <p:spPr>
          <a:xfrm>
            <a:off x="8046720" y="1828800"/>
            <a:ext cx="3520440" cy="3429000"/>
          </a:xfrm>
          <a:prstGeom prst="roundRect">
            <a:avLst>
              <a:gd name="adj" fmla="val 2133"/>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pic>
        <p:nvPicPr>
          <p:cNvPr id="11" name="Chat Dogri" descr="/tmp/claude-0/pdfbuild/chat_doi.jpg">    </p:cNvPr>
          <p:cNvPicPr>
            <a:picLocks noChangeAspect="1"/>
          </p:cNvPicPr>
          <p:nvPr/>
        </p:nvPicPr>
        <p:blipFill>
          <a:blip r:embed="rId3"/>
          <a:stretch>
            <a:fillRect/>
          </a:stretch>
        </p:blipFill>
        <p:spPr>
          <a:xfrm>
            <a:off x="8138160" y="2060785"/>
            <a:ext cx="3337560" cy="2965031"/>
          </a:xfrm>
          <a:prstGeom prst="rect">
            <a:avLst/>
          </a:prstGeom>
        </p:spPr>
      </p:pic>
      <p:sp>
        <p:nvSpPr>
          <p:cNvPr id="12" name="Text 7"/>
          <p:cNvSpPr txBox="1"/>
          <p:nvPr/>
        </p:nvSpPr>
        <p:spPr>
          <a:xfrm>
            <a:off x="8046720" y="5349240"/>
            <a:ext cx="3520440" cy="320040"/>
          </a:xfrm>
          <a:prstGeom prst="rect">
            <a:avLst/>
          </a:prstGeom>
          <a:noFill/>
          <a:ln/>
        </p:spPr>
        <p:txBody>
          <a:bodyPr wrap="square" lIns="0" tIns="0" rIns="0" bIns="0" rtlCol="0" anchor="t"/>
          <a:lstStyle/>
          <a:p>
            <a:pPr algn="ctr" indent="0" marL="0">
              <a:buNone/>
            </a:pPr>
            <a:r>
              <a:rPr lang="en-US" sz="1400" b="1" dirty="0">
                <a:solidFill>
                  <a:schemeClr val="tx1"/>
                </a:solidFill>
              </a:rPr>
              <a:t>Dogri</a:t>
            </a:r>
            <a:endParaRPr lang="en-US" sz="1400" dirty="0"/>
          </a:p>
        </p:txBody>
      </p:sp>
      <p:sp>
        <p:nvSpPr>
          <p:cNvPr id="13" name="Text 8"/>
          <p:cNvSpPr txBox="1"/>
          <p:nvPr/>
        </p:nvSpPr>
        <p:spPr>
          <a:xfrm>
            <a:off x="548640" y="5852160"/>
            <a:ext cx="10972800" cy="320040"/>
          </a:xfrm>
          <a:prstGeom prst="rect">
            <a:avLst/>
          </a:prstGeom>
          <a:noFill/>
          <a:ln/>
        </p:spPr>
        <p:txBody>
          <a:bodyPr wrap="square" lIns="0" tIns="0" rIns="0" bIns="0" rtlCol="0" anchor="t"/>
          <a:lstStyle/>
          <a:p>
            <a:pPr indent="0" marL="0">
              <a:buNone/>
            </a:pPr>
            <a:r>
              <a:rPr lang="en-US" sz="1200" i="1" dirty="0">
                <a:solidFill>
                  <a:schemeClr val="tx2"/>
                </a:solidFill>
              </a:rPr>
              <a:t>Dogri and Urdu replies are a first draft and will be reviewed by native speakers before launch.</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dashboard the city can act on</a:t>
            </a:r>
            <a:endParaRPr lang="en-US" sz="3200" dirty="0"/>
          </a:p>
        </p:txBody>
      </p:sp>
      <p:sp>
        <p:nvSpPr>
          <p:cNvPr id="3" name="Dashboard frame"/>
          <p:cNvSpPr/>
          <p:nvPr/>
        </p:nvSpPr>
        <p:spPr>
          <a:xfrm>
            <a:off x="548640" y="1234440"/>
            <a:ext cx="5852160" cy="5029200"/>
          </a:xfrm>
          <a:prstGeom prst="roundRect">
            <a:avLst>
              <a:gd name="adj" fmla="val 1455"/>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pic>
        <p:nvPicPr>
          <p:cNvPr id="4" name="City dashboard screenshot" descr="/tmp/claude-0/pdfbuild/admin.jpg">    </p:cNvPr>
          <p:cNvPicPr>
            <a:picLocks noChangeAspect="1"/>
          </p:cNvPicPr>
          <p:nvPr/>
        </p:nvPicPr>
        <p:blipFill>
          <a:blip r:embed="rId1"/>
          <a:stretch>
            <a:fillRect/>
          </a:stretch>
        </p:blipFill>
        <p:spPr>
          <a:xfrm>
            <a:off x="866622" y="1325880"/>
            <a:ext cx="5216196" cy="4846320"/>
          </a:xfrm>
          <a:prstGeom prst="rect">
            <a:avLst/>
          </a:prstGeom>
        </p:spPr>
      </p:pic>
      <p:sp>
        <p:nvSpPr>
          <p:cNvPr id="5" name="Dot 1"/>
          <p:cNvSpPr/>
          <p:nvPr/>
        </p:nvSpPr>
        <p:spPr>
          <a:xfrm>
            <a:off x="6812280" y="1335024"/>
            <a:ext cx="201168" cy="201168"/>
          </a:xfrm>
          <a:prstGeom prst="ellipse">
            <a:avLst/>
          </a:prstGeom>
          <a:solidFill>
            <a:schemeClr val="accent1"/>
          </a:solidFill>
          <a:ln/>
        </p:spPr>
      </p:sp>
      <p:sp>
        <p:nvSpPr>
          <p:cNvPr id="6" name="Text 3"/>
          <p:cNvSpPr txBox="1"/>
          <p:nvPr/>
        </p:nvSpPr>
        <p:spPr>
          <a:xfrm>
            <a:off x="7178040" y="1280160"/>
            <a:ext cx="4434840" cy="320040"/>
          </a:xfrm>
          <a:prstGeom prst="rect">
            <a:avLst/>
          </a:prstGeom>
          <a:noFill/>
          <a:ln/>
        </p:spPr>
        <p:txBody>
          <a:bodyPr wrap="square" lIns="0" tIns="0" rIns="0" bIns="0" rtlCol="0" anchor="t"/>
          <a:lstStyle/>
          <a:p>
            <a:pPr indent="0" marL="0">
              <a:buNone/>
            </a:pPr>
            <a:r>
              <a:rPr lang="en-US" sz="1700" b="1" dirty="0">
                <a:solidFill>
                  <a:schemeClr val="tx1"/>
                </a:solidFill>
              </a:rPr>
              <a:t>Heatmap of fill by hour</a:t>
            </a:r>
            <a:endParaRPr lang="en-US" sz="1700" dirty="0"/>
          </a:p>
        </p:txBody>
      </p:sp>
      <p:sp>
        <p:nvSpPr>
          <p:cNvPr id="7" name="Text 4"/>
          <p:cNvSpPr txBox="1"/>
          <p:nvPr/>
        </p:nvSpPr>
        <p:spPr>
          <a:xfrm>
            <a:off x="7178040" y="1645920"/>
            <a:ext cx="4434840" cy="822960"/>
          </a:xfrm>
          <a:prstGeom prst="rect">
            <a:avLst/>
          </a:prstGeom>
          <a:noFill/>
          <a:ln/>
        </p:spPr>
        <p:txBody>
          <a:bodyPr wrap="square" lIns="0" tIns="0" rIns="0" bIns="0" rtlCol="0" anchor="t"/>
          <a:lstStyle/>
          <a:p>
            <a:pPr indent="0" marL="0">
              <a:buNone/>
            </a:pPr>
            <a:r>
              <a:rPr lang="en-US" sz="1400" dirty="0">
                <a:solidFill>
                  <a:schemeClr val="tx2"/>
                </a:solidFill>
              </a:rPr>
              <a:t>Market zones fill at 12–13h and 18–19h; the bus stand and station peak at 8–9h. That is when marshals and overflow lots help most.</a:t>
            </a:r>
            <a:endParaRPr lang="en-US" sz="1400" dirty="0"/>
          </a:p>
        </p:txBody>
      </p:sp>
      <p:sp>
        <p:nvSpPr>
          <p:cNvPr id="8" name="Dot 2"/>
          <p:cNvSpPr/>
          <p:nvPr/>
        </p:nvSpPr>
        <p:spPr>
          <a:xfrm>
            <a:off x="6812280" y="2569464"/>
            <a:ext cx="201168" cy="201168"/>
          </a:xfrm>
          <a:prstGeom prst="ellipse">
            <a:avLst/>
          </a:prstGeom>
          <a:solidFill>
            <a:schemeClr val="accent1"/>
          </a:solidFill>
          <a:ln/>
        </p:spPr>
      </p:sp>
      <p:sp>
        <p:nvSpPr>
          <p:cNvPr id="9" name="Text 6"/>
          <p:cNvSpPr txBox="1"/>
          <p:nvPr/>
        </p:nvSpPr>
        <p:spPr>
          <a:xfrm>
            <a:off x="7178040" y="2514600"/>
            <a:ext cx="4434840" cy="320040"/>
          </a:xfrm>
          <a:prstGeom prst="rect">
            <a:avLst/>
          </a:prstGeom>
          <a:noFill/>
          <a:ln/>
        </p:spPr>
        <p:txBody>
          <a:bodyPr wrap="square" lIns="0" tIns="0" rIns="0" bIns="0" rtlCol="0" anchor="t"/>
          <a:lstStyle/>
          <a:p>
            <a:pPr indent="0" marL="0">
              <a:buNone/>
            </a:pPr>
            <a:r>
              <a:rPr lang="en-US" sz="1700" b="1" dirty="0">
                <a:solidFill>
                  <a:schemeClr val="tx1"/>
                </a:solidFill>
              </a:rPr>
              <a:t>6-hour forecast</a:t>
            </a:r>
            <a:endParaRPr lang="en-US" sz="1700" dirty="0"/>
          </a:p>
        </p:txBody>
      </p:sp>
      <p:sp>
        <p:nvSpPr>
          <p:cNvPr id="10" name="Text 7"/>
          <p:cNvSpPr txBox="1"/>
          <p:nvPr/>
        </p:nvSpPr>
        <p:spPr>
          <a:xfrm>
            <a:off x="7178040" y="2880360"/>
            <a:ext cx="4434840" cy="822960"/>
          </a:xfrm>
          <a:prstGeom prst="rect">
            <a:avLst/>
          </a:prstGeom>
          <a:noFill/>
          <a:ln/>
        </p:spPr>
        <p:txBody>
          <a:bodyPr wrap="square" lIns="0" tIns="0" rIns="0" bIns="0" rtlCol="0" anchor="t"/>
          <a:lstStyle/>
          <a:p>
            <a:pPr indent="0" marL="0">
              <a:buNone/>
            </a:pPr>
            <a:r>
              <a:rPr lang="en-US" sz="1400" dirty="0">
                <a:solidFill>
                  <a:schemeClr val="tx2"/>
                </a:solidFill>
              </a:rPr>
              <a:t>Warns before a zone crosses 95% full, so fees or marshals can be adjusted hours ahead.</a:t>
            </a:r>
            <a:endParaRPr lang="en-US" sz="1400" dirty="0"/>
          </a:p>
        </p:txBody>
      </p:sp>
      <p:sp>
        <p:nvSpPr>
          <p:cNvPr id="11" name="Dot 3"/>
          <p:cNvSpPr/>
          <p:nvPr/>
        </p:nvSpPr>
        <p:spPr>
          <a:xfrm>
            <a:off x="6812280" y="3803904"/>
            <a:ext cx="201168" cy="201168"/>
          </a:xfrm>
          <a:prstGeom prst="ellipse">
            <a:avLst/>
          </a:prstGeom>
          <a:solidFill>
            <a:schemeClr val="accent1"/>
          </a:solidFill>
          <a:ln/>
        </p:spPr>
      </p:sp>
      <p:sp>
        <p:nvSpPr>
          <p:cNvPr id="12" name="Text 9"/>
          <p:cNvSpPr txBox="1"/>
          <p:nvPr/>
        </p:nvSpPr>
        <p:spPr>
          <a:xfrm>
            <a:off x="7178040" y="3749040"/>
            <a:ext cx="4434840" cy="320040"/>
          </a:xfrm>
          <a:prstGeom prst="rect">
            <a:avLst/>
          </a:prstGeom>
          <a:noFill/>
          <a:ln/>
        </p:spPr>
        <p:txBody>
          <a:bodyPr wrap="square" lIns="0" tIns="0" rIns="0" bIns="0" rtlCol="0" anchor="t"/>
          <a:lstStyle/>
          <a:p>
            <a:pPr indent="0" marL="0">
              <a:buNone/>
            </a:pPr>
            <a:r>
              <a:rPr lang="en-US" sz="1700" b="1" dirty="0">
                <a:solidFill>
                  <a:schemeClr val="tx1"/>
                </a:solidFill>
              </a:rPr>
              <a:t>Alerts and hotspots</a:t>
            </a:r>
            <a:endParaRPr lang="en-US" sz="1700" dirty="0"/>
          </a:p>
        </p:txBody>
      </p:sp>
      <p:sp>
        <p:nvSpPr>
          <p:cNvPr id="13" name="Text 10"/>
          <p:cNvSpPr txBox="1"/>
          <p:nvPr/>
        </p:nvSpPr>
        <p:spPr>
          <a:xfrm>
            <a:off x="7178040" y="4114800"/>
            <a:ext cx="4434840" cy="822960"/>
          </a:xfrm>
          <a:prstGeom prst="rect">
            <a:avLst/>
          </a:prstGeom>
          <a:noFill/>
          <a:ln/>
        </p:spPr>
        <p:txBody>
          <a:bodyPr wrap="square" lIns="0" tIns="0" rIns="0" bIns="0" rtlCol="0" anchor="t"/>
          <a:lstStyle/>
          <a:p>
            <a:pPr indent="0" marL="0">
              <a:buNone/>
            </a:pPr>
            <a:r>
              <a:rPr lang="en-US" sz="1400" dirty="0">
                <a:solidFill>
                  <a:schemeClr val="tx2"/>
                </a:solidFill>
              </a:rPr>
              <a:t>Live no-parking alerts, and segments ranked by alerts over 14 days so patrols go where they matter.</a:t>
            </a:r>
            <a:endParaRPr lang="en-US" sz="1400" dirty="0"/>
          </a:p>
        </p:txBody>
      </p:sp>
      <p:sp>
        <p:nvSpPr>
          <p:cNvPr id="14" name="Dot 4"/>
          <p:cNvSpPr/>
          <p:nvPr/>
        </p:nvSpPr>
        <p:spPr>
          <a:xfrm>
            <a:off x="6812280" y="5038344"/>
            <a:ext cx="201168" cy="201168"/>
          </a:xfrm>
          <a:prstGeom prst="ellipse">
            <a:avLst/>
          </a:prstGeom>
          <a:solidFill>
            <a:schemeClr val="accent1"/>
          </a:solidFill>
          <a:ln/>
        </p:spPr>
      </p:sp>
      <p:sp>
        <p:nvSpPr>
          <p:cNvPr id="15" name="Text 12"/>
          <p:cNvSpPr txBox="1"/>
          <p:nvPr/>
        </p:nvSpPr>
        <p:spPr>
          <a:xfrm>
            <a:off x="7178040" y="4983480"/>
            <a:ext cx="4434840" cy="320040"/>
          </a:xfrm>
          <a:prstGeom prst="rect">
            <a:avLst/>
          </a:prstGeom>
          <a:noFill/>
          <a:ln/>
        </p:spPr>
        <p:txBody>
          <a:bodyPr wrap="square" lIns="0" tIns="0" rIns="0" bIns="0" rtlCol="0" anchor="t"/>
          <a:lstStyle/>
          <a:p>
            <a:pPr indent="0" marL="0">
              <a:buNone/>
            </a:pPr>
            <a:r>
              <a:rPr lang="en-US" sz="1700" b="1" dirty="0">
                <a:solidFill>
                  <a:schemeClr val="tx1"/>
                </a:solidFill>
              </a:rPr>
              <a:t>Uncollected fees</a:t>
            </a:r>
            <a:endParaRPr lang="en-US" sz="1700" dirty="0"/>
          </a:p>
        </p:txBody>
      </p:sp>
      <p:sp>
        <p:nvSpPr>
          <p:cNvPr id="16" name="Text 13"/>
          <p:cNvSpPr txBox="1"/>
          <p:nvPr/>
        </p:nvSpPr>
        <p:spPr>
          <a:xfrm>
            <a:off x="7178040" y="5349240"/>
            <a:ext cx="4434840" cy="822960"/>
          </a:xfrm>
          <a:prstGeom prst="rect">
            <a:avLst/>
          </a:prstGeom>
          <a:noFill/>
          <a:ln/>
        </p:spPr>
        <p:txBody>
          <a:bodyPr wrap="square" lIns="0" tIns="0" rIns="0" bIns="0" rtlCol="0" anchor="t"/>
          <a:lstStyle/>
          <a:p>
            <a:pPr indent="0" marL="0">
              <a:buNone/>
            </a:pPr>
            <a:r>
              <a:rPr lang="en-US" sz="1400" dirty="0">
                <a:solidFill>
                  <a:schemeClr val="tx2"/>
                </a:solidFill>
              </a:rPr>
              <a:t>An estimate of fees lost to unbilled and overstayed parking, to size the revenue case.</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camera frame to free-bay count, privately</a:t>
            </a:r>
            <a:endParaRPr lang="en-US" sz="3200" dirty="0"/>
          </a:p>
        </p:txBody>
      </p:sp>
      <p:pic>
        <p:nvPicPr>
          <p:cNvPr id="3" name="1. Camera frame" descr="/tmp/claude-0/pdfbuild/raw.jpg">    </p:cNvPr>
          <p:cNvPicPr>
            <a:picLocks noChangeAspect="1"/>
          </p:cNvPicPr>
          <p:nvPr/>
        </p:nvPicPr>
        <p:blipFill>
          <a:blip r:embed="rId1"/>
          <a:stretch>
            <a:fillRect/>
          </a:stretch>
        </p:blipFill>
        <p:spPr>
          <a:xfrm>
            <a:off x="548640" y="1339596"/>
            <a:ext cx="3520440" cy="1984248"/>
          </a:xfrm>
          <a:prstGeom prst="rect">
            <a:avLst/>
          </a:prstGeom>
        </p:spPr>
      </p:pic>
      <p:sp>
        <p:nvSpPr>
          <p:cNvPr id="4" name="Text 1"/>
          <p:cNvSpPr txBox="1"/>
          <p:nvPr/>
        </p:nvSpPr>
        <p:spPr>
          <a:xfrm>
            <a:off x="548640" y="3401568"/>
            <a:ext cx="3520440" cy="320040"/>
          </a:xfrm>
          <a:prstGeom prst="rect">
            <a:avLst/>
          </a:prstGeom>
          <a:noFill/>
          <a:ln/>
        </p:spPr>
        <p:txBody>
          <a:bodyPr wrap="square" lIns="0" tIns="0" rIns="0" bIns="0" rtlCol="0" anchor="t"/>
          <a:lstStyle/>
          <a:p>
            <a:pPr indent="0" marL="0">
              <a:buNone/>
            </a:pPr>
            <a:r>
              <a:rPr lang="en-US" sz="1400" b="1" dirty="0">
                <a:solidFill>
                  <a:schemeClr val="tx1"/>
                </a:solidFill>
              </a:rPr>
              <a:t>1. Camera frame</a:t>
            </a:r>
            <a:endParaRPr lang="en-US" sz="1400" dirty="0"/>
          </a:p>
        </p:txBody>
      </p:sp>
      <p:sp>
        <p:nvSpPr>
          <p:cNvPr id="5" name="Arrow 1"/>
          <p:cNvSpPr/>
          <p:nvPr/>
        </p:nvSpPr>
        <p:spPr>
          <a:xfrm>
            <a:off x="4096512" y="2194560"/>
            <a:ext cx="182880" cy="274320"/>
          </a:xfrm>
          <a:prstGeom prst="rightArrow">
            <a:avLst/>
          </a:prstGeom>
          <a:solidFill>
            <a:schemeClr val="tx2"/>
          </a:solidFill>
          <a:ln/>
        </p:spPr>
      </p:sp>
      <p:pic>
        <p:nvPicPr>
          <p:cNvPr id="6" name="2. Plates and faces blurred" descr="/tmp/claude-0/pdfbuild/anon.jpg">    </p:cNvPr>
          <p:cNvPicPr>
            <a:picLocks noChangeAspect="1"/>
          </p:cNvPicPr>
          <p:nvPr/>
        </p:nvPicPr>
        <p:blipFill>
          <a:blip r:embed="rId2"/>
          <a:stretch>
            <a:fillRect/>
          </a:stretch>
        </p:blipFill>
        <p:spPr>
          <a:xfrm>
            <a:off x="4297680" y="1339596"/>
            <a:ext cx="3520440" cy="1984248"/>
          </a:xfrm>
          <a:prstGeom prst="rect">
            <a:avLst/>
          </a:prstGeom>
        </p:spPr>
      </p:pic>
      <p:sp>
        <p:nvSpPr>
          <p:cNvPr id="7" name="Text 3"/>
          <p:cNvSpPr txBox="1"/>
          <p:nvPr/>
        </p:nvSpPr>
        <p:spPr>
          <a:xfrm>
            <a:off x="4297680" y="3401568"/>
            <a:ext cx="3520440" cy="320040"/>
          </a:xfrm>
          <a:prstGeom prst="rect">
            <a:avLst/>
          </a:prstGeom>
          <a:noFill/>
          <a:ln/>
        </p:spPr>
        <p:txBody>
          <a:bodyPr wrap="square" lIns="0" tIns="0" rIns="0" bIns="0" rtlCol="0" anchor="t"/>
          <a:lstStyle/>
          <a:p>
            <a:pPr indent="0" marL="0">
              <a:buNone/>
            </a:pPr>
            <a:r>
              <a:rPr lang="en-US" sz="1400" b="1" dirty="0">
                <a:solidFill>
                  <a:schemeClr val="tx1"/>
                </a:solidFill>
              </a:rPr>
              <a:t>2. Plates and faces blurred</a:t>
            </a:r>
            <a:endParaRPr lang="en-US" sz="1400" dirty="0"/>
          </a:p>
        </p:txBody>
      </p:sp>
      <p:sp>
        <p:nvSpPr>
          <p:cNvPr id="8" name="Arrow 2"/>
          <p:cNvSpPr/>
          <p:nvPr/>
        </p:nvSpPr>
        <p:spPr>
          <a:xfrm>
            <a:off x="7845552" y="2194560"/>
            <a:ext cx="182880" cy="274320"/>
          </a:xfrm>
          <a:prstGeom prst="rightArrow">
            <a:avLst/>
          </a:prstGeom>
          <a:solidFill>
            <a:schemeClr val="tx2"/>
          </a:solidFill>
          <a:ln/>
        </p:spPr>
      </p:sp>
      <p:pic>
        <p:nvPicPr>
          <p:cNvPr id="9" name="3. Each bay marked free or taken" descr="/tmp/claude-0/pdfbuild/annot.jpg">    </p:cNvPr>
          <p:cNvPicPr>
            <a:picLocks noChangeAspect="1"/>
          </p:cNvPicPr>
          <p:nvPr/>
        </p:nvPicPr>
        <p:blipFill>
          <a:blip r:embed="rId3"/>
          <a:stretch>
            <a:fillRect/>
          </a:stretch>
        </p:blipFill>
        <p:spPr>
          <a:xfrm>
            <a:off x="8046720" y="1339596"/>
            <a:ext cx="3520440" cy="1984248"/>
          </a:xfrm>
          <a:prstGeom prst="rect">
            <a:avLst/>
          </a:prstGeom>
        </p:spPr>
      </p:pic>
      <p:sp>
        <p:nvSpPr>
          <p:cNvPr id="10" name="Text 5"/>
          <p:cNvSpPr txBox="1"/>
          <p:nvPr/>
        </p:nvSpPr>
        <p:spPr>
          <a:xfrm>
            <a:off x="8046720" y="3401568"/>
            <a:ext cx="3520440" cy="320040"/>
          </a:xfrm>
          <a:prstGeom prst="rect">
            <a:avLst/>
          </a:prstGeom>
          <a:noFill/>
          <a:ln/>
        </p:spPr>
        <p:txBody>
          <a:bodyPr wrap="square" lIns="0" tIns="0" rIns="0" bIns="0" rtlCol="0" anchor="t"/>
          <a:lstStyle/>
          <a:p>
            <a:pPr indent="0" marL="0">
              <a:buNone/>
            </a:pPr>
            <a:r>
              <a:rPr lang="en-US" sz="1400" b="1" dirty="0">
                <a:solidFill>
                  <a:schemeClr val="tx1"/>
                </a:solidFill>
              </a:rPr>
              <a:t>3. Each bay marked free or taken</a:t>
            </a:r>
            <a:endParaRPr lang="en-US" sz="1400" dirty="0"/>
          </a:p>
        </p:txBody>
      </p:sp>
      <p:sp>
        <p:nvSpPr>
          <p:cNvPr id="11" name="Text 6"/>
          <p:cNvSpPr txBox="1"/>
          <p:nvPr/>
        </p:nvSpPr>
        <p:spPr>
          <a:xfrm>
            <a:off x="548640" y="3977640"/>
            <a:ext cx="2377440" cy="822960"/>
          </a:xfrm>
          <a:prstGeom prst="rect">
            <a:avLst/>
          </a:prstGeom>
          <a:noFill/>
          <a:ln/>
        </p:spPr>
        <p:txBody>
          <a:bodyPr wrap="square" lIns="0" tIns="0" rIns="0" bIns="0" rtlCol="0" anchor="t"/>
          <a:lstStyle/>
          <a:p>
            <a:pPr indent="0" marL="0">
              <a:buNone/>
            </a:pPr>
            <a:r>
              <a:rPr lang="en-US" sz="4400" b="1" dirty="0">
                <a:solidFill>
                  <a:schemeClr val="accent1"/>
                </a:solidFill>
              </a:rPr>
              <a:t>100%</a:t>
            </a:r>
            <a:endParaRPr lang="en-US" sz="4400" dirty="0"/>
          </a:p>
        </p:txBody>
      </p:sp>
      <p:sp>
        <p:nvSpPr>
          <p:cNvPr id="12" name="Text 7"/>
          <p:cNvSpPr txBox="1"/>
          <p:nvPr/>
        </p:nvSpPr>
        <p:spPr>
          <a:xfrm>
            <a:off x="548640" y="4800600"/>
            <a:ext cx="2286000" cy="640080"/>
          </a:xfrm>
          <a:prstGeom prst="rect">
            <a:avLst/>
          </a:prstGeom>
          <a:noFill/>
          <a:ln/>
        </p:spPr>
        <p:txBody>
          <a:bodyPr wrap="square" lIns="0" tIns="0" rIns="0" bIns="0" rtlCol="0" anchor="t"/>
          <a:lstStyle/>
          <a:p>
            <a:pPr indent="0" marL="0">
              <a:buNone/>
            </a:pPr>
            <a:r>
              <a:rPr lang="en-US" sz="1300" dirty="0">
                <a:solidFill>
                  <a:schemeClr val="tx2"/>
                </a:solidFill>
              </a:rPr>
              <a:t>bays classified correctly</a:t>
            </a:r>
            <a:endParaRPr lang="en-US" sz="1300" dirty="0"/>
          </a:p>
        </p:txBody>
      </p:sp>
      <p:sp>
        <p:nvSpPr>
          <p:cNvPr id="13" name="Text 8"/>
          <p:cNvSpPr txBox="1"/>
          <p:nvPr/>
        </p:nvSpPr>
        <p:spPr>
          <a:xfrm>
            <a:off x="3063240" y="3977640"/>
            <a:ext cx="2377440" cy="822960"/>
          </a:xfrm>
          <a:prstGeom prst="rect">
            <a:avLst/>
          </a:prstGeom>
          <a:noFill/>
          <a:ln/>
        </p:spPr>
        <p:txBody>
          <a:bodyPr wrap="square" lIns="0" tIns="0" rIns="0" bIns="0" rtlCol="0" anchor="t"/>
          <a:lstStyle/>
          <a:p>
            <a:pPr indent="0" marL="0">
              <a:buNone/>
            </a:pPr>
            <a:r>
              <a:rPr lang="en-US" sz="4400" b="1" dirty="0">
                <a:solidFill>
                  <a:schemeClr val="accent2"/>
                </a:solidFill>
              </a:rPr>
              <a:t>89%</a:t>
            </a:r>
            <a:endParaRPr lang="en-US" sz="4400" dirty="0"/>
          </a:p>
        </p:txBody>
      </p:sp>
      <p:sp>
        <p:nvSpPr>
          <p:cNvPr id="14" name="Text 9"/>
          <p:cNvSpPr txBox="1"/>
          <p:nvPr/>
        </p:nvSpPr>
        <p:spPr>
          <a:xfrm>
            <a:off x="3063240" y="4800600"/>
            <a:ext cx="2286000" cy="640080"/>
          </a:xfrm>
          <a:prstGeom prst="rect">
            <a:avLst/>
          </a:prstGeom>
          <a:noFill/>
          <a:ln/>
        </p:spPr>
        <p:txBody>
          <a:bodyPr wrap="square" lIns="0" tIns="0" rIns="0" bIns="0" rtlCol="0" anchor="t"/>
          <a:lstStyle/>
          <a:p>
            <a:pPr indent="0" marL="0">
              <a:buNone/>
            </a:pPr>
            <a:r>
              <a:rPr lang="en-US" sz="1300" dirty="0">
                <a:solidFill>
                  <a:schemeClr val="tx2"/>
                </a:solidFill>
              </a:rPr>
              <a:t>number plates found and blurred</a:t>
            </a:r>
            <a:endParaRPr lang="en-US" sz="1300" dirty="0"/>
          </a:p>
        </p:txBody>
      </p:sp>
      <p:sp>
        <p:nvSpPr>
          <p:cNvPr id="15" name="Text 10"/>
          <p:cNvSpPr txBox="1"/>
          <p:nvPr/>
        </p:nvSpPr>
        <p:spPr>
          <a:xfrm>
            <a:off x="5577840" y="3977640"/>
            <a:ext cx="2377440" cy="822960"/>
          </a:xfrm>
          <a:prstGeom prst="rect">
            <a:avLst/>
          </a:prstGeom>
          <a:noFill/>
          <a:ln/>
        </p:spPr>
        <p:txBody>
          <a:bodyPr wrap="square" lIns="0" tIns="0" rIns="0" bIns="0" rtlCol="0" anchor="t"/>
          <a:lstStyle/>
          <a:p>
            <a:pPr indent="0" marL="0">
              <a:buNone/>
            </a:pPr>
            <a:r>
              <a:rPr lang="en-US" sz="4400" b="1" dirty="0">
                <a:solidFill>
                  <a:schemeClr val="accent3"/>
                </a:solidFill>
              </a:rPr>
              <a:t>1 alert</a:t>
            </a:r>
            <a:endParaRPr lang="en-US" sz="4400" dirty="0"/>
          </a:p>
        </p:txBody>
      </p:sp>
      <p:sp>
        <p:nvSpPr>
          <p:cNvPr id="16" name="Text 11"/>
          <p:cNvSpPr txBox="1"/>
          <p:nvPr/>
        </p:nvSpPr>
        <p:spPr>
          <a:xfrm>
            <a:off x="5577840" y="4800600"/>
            <a:ext cx="2286000" cy="640080"/>
          </a:xfrm>
          <a:prstGeom prst="rect">
            <a:avLst/>
          </a:prstGeom>
          <a:noFill/>
          <a:ln/>
        </p:spPr>
        <p:txBody>
          <a:bodyPr wrap="square" lIns="0" tIns="0" rIns="0" bIns="0" rtlCol="0" anchor="t"/>
          <a:lstStyle/>
          <a:p>
            <a:pPr indent="0" marL="0">
              <a:buNone/>
            </a:pPr>
            <a:r>
              <a:rPr lang="en-US" sz="1300" dirty="0">
                <a:solidFill>
                  <a:schemeClr val="tx2"/>
                </a:solidFill>
              </a:rPr>
              <a:t>per vehicle after a 5-minute no-parking stay</a:t>
            </a:r>
            <a:endParaRPr lang="en-US" sz="1300" dirty="0"/>
          </a:p>
        </p:txBody>
      </p:sp>
      <p:sp>
        <p:nvSpPr>
          <p:cNvPr id="17" name="Text 12"/>
          <p:cNvSpPr txBox="1"/>
          <p:nvPr/>
        </p:nvSpPr>
        <p:spPr>
          <a:xfrm>
            <a:off x="548640" y="5669280"/>
            <a:ext cx="7315200" cy="320040"/>
          </a:xfrm>
          <a:prstGeom prst="rect">
            <a:avLst/>
          </a:prstGeom>
          <a:noFill/>
          <a:ln/>
        </p:spPr>
        <p:txBody>
          <a:bodyPr wrap="square" lIns="0" tIns="0" rIns="0" bIns="0" rtlCol="0" anchor="t"/>
          <a:lstStyle/>
          <a:p>
            <a:pPr indent="0" marL="0">
              <a:buNone/>
            </a:pPr>
            <a:r>
              <a:rPr lang="en-US" sz="1200" i="1" dirty="0">
                <a:solidFill>
                  <a:schemeClr val="tx2"/>
                </a:solidFill>
              </a:rPr>
              <a:t>Measured on 50 synthetic frames (1,000 bays).</a:t>
            </a:r>
            <a:endParaRPr lang="en-US" sz="1200" dirty="0"/>
          </a:p>
        </p:txBody>
      </p:sp>
      <p:sp>
        <p:nvSpPr>
          <p:cNvPr id="18" name="Caveat card"/>
          <p:cNvSpPr/>
          <p:nvPr/>
        </p:nvSpPr>
        <p:spPr>
          <a:xfrm>
            <a:off x="8183880" y="3977640"/>
            <a:ext cx="3429000" cy="2057400"/>
          </a:xfrm>
          <a:prstGeom prst="roundRect">
            <a:avLst>
              <a:gd name="adj" fmla="val 3556"/>
            </a:avLst>
          </a:prstGeom>
          <a:solidFill>
            <a:schemeClr val="accent6"/>
          </a:solidFill>
          <a:ln/>
        </p:spPr>
      </p:sp>
      <p:sp>
        <p:nvSpPr>
          <p:cNvPr id="19" name="Text 14"/>
          <p:cNvSpPr txBox="1"/>
          <p:nvPr/>
        </p:nvSpPr>
        <p:spPr>
          <a:xfrm>
            <a:off x="8366760" y="4114800"/>
            <a:ext cx="3063240" cy="1828800"/>
          </a:xfrm>
          <a:prstGeom prst="rect">
            <a:avLst/>
          </a:prstGeom>
          <a:noFill/>
          <a:ln/>
        </p:spPr>
        <p:txBody>
          <a:bodyPr wrap="square" lIns="0" tIns="0" rIns="0" bIns="0" rtlCol="0" anchor="t"/>
          <a:lstStyle/>
          <a:p>
            <a:pPr indent="0" marL="0">
              <a:buNone/>
            </a:pPr>
            <a:r>
              <a:rPr lang="en-US" sz="1300" dirty="0">
                <a:solidFill>
                  <a:schemeClr val="tx1"/>
                </a:solidFill>
              </a:rPr>
              <a:t>Synthetic frames are easy. On Jammu CCTV we draw bay outlines per camera with the included tool, switch oblique cameras to YOLO, and use a trained Indian-plate detector before any deployment.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Forecasts beat the simple rule in all six zones</a:t>
            </a:r>
            <a:endParaRPr lang="en-US" sz="3200" dirty="0"/>
          </a:p>
        </p:txBody>
      </p:sp>
      <p:graphicFrame>
        <p:nvGraphicFramePr>
          <p:cNvPr id="3" name="Forecast error chart" descr=""/>
          <p:cNvGraphicFramePr/>
          <p:nvPr/>
        </p:nvGraphicFramePr>
        <p:xfrm>
          <a:off x="548640" y="1280160"/>
          <a:ext cx="7498080" cy="4892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412480" y="1463040"/>
            <a:ext cx="3200400" cy="822960"/>
          </a:xfrm>
          <a:prstGeom prst="rect">
            <a:avLst/>
          </a:prstGeom>
          <a:noFill/>
          <a:ln/>
        </p:spPr>
        <p:txBody>
          <a:bodyPr wrap="square" lIns="0" tIns="0" rIns="0" bIns="0" rtlCol="0" anchor="t"/>
          <a:lstStyle/>
          <a:p>
            <a:pPr indent="0" marL="0">
              <a:buNone/>
            </a:pPr>
            <a:r>
              <a:rPr lang="en-US" sz="4400" b="1" dirty="0">
                <a:solidFill>
                  <a:schemeClr val="accent1"/>
                </a:solidFill>
              </a:rPr>
              <a:t>1.1–2.4</a:t>
            </a:r>
            <a:endParaRPr lang="en-US" sz="4400" dirty="0"/>
          </a:p>
        </p:txBody>
      </p:sp>
      <p:sp>
        <p:nvSpPr>
          <p:cNvPr id="5" name="Text 2"/>
          <p:cNvSpPr txBox="1"/>
          <p:nvPr/>
        </p:nvSpPr>
        <p:spPr>
          <a:xfrm>
            <a:off x="8412480" y="2286000"/>
            <a:ext cx="3108960" cy="731520"/>
          </a:xfrm>
          <a:prstGeom prst="rect">
            <a:avLst/>
          </a:prstGeom>
          <a:noFill/>
          <a:ln/>
        </p:spPr>
        <p:txBody>
          <a:bodyPr wrap="square" lIns="0" tIns="0" rIns="0" bIns="0" rtlCol="0" anchor="t"/>
          <a:lstStyle/>
          <a:p>
            <a:pPr indent="0" marL="0">
              <a:buNone/>
            </a:pPr>
            <a:r>
              <a:rPr lang="en-US" sz="1400" dirty="0">
                <a:solidFill>
                  <a:schemeClr val="tx2"/>
                </a:solidFill>
              </a:rPr>
              <a:t>percentage points less error than the simple rule, depending on zone</a:t>
            </a:r>
            <a:endParaRPr lang="en-US" sz="1400" dirty="0"/>
          </a:p>
        </p:txBody>
      </p:sp>
      <p:sp>
        <p:nvSpPr>
          <p:cNvPr id="6" name="Text 3"/>
          <p:cNvSpPr txBox="1"/>
          <p:nvPr/>
        </p:nvSpPr>
        <p:spPr>
          <a:xfrm>
            <a:off x="8412480" y="3291840"/>
            <a:ext cx="3200400" cy="320040"/>
          </a:xfrm>
          <a:prstGeom prst="rect">
            <a:avLst/>
          </a:prstGeom>
          <a:noFill/>
          <a:ln/>
        </p:spPr>
        <p:txBody>
          <a:bodyPr wrap="square" lIns="0" tIns="0" rIns="0" bIns="0" rtlCol="0" anchor="t"/>
          <a:lstStyle/>
          <a:p>
            <a:pPr indent="0" marL="0">
              <a:buNone/>
            </a:pPr>
            <a:r>
              <a:rPr lang="en-US" sz="1500" b="1" dirty="0">
                <a:solidFill>
                  <a:schemeClr val="tx1"/>
                </a:solidFill>
              </a:rPr>
              <a:t>Signals the model uses</a:t>
            </a:r>
            <a:endParaRPr lang="en-US" sz="1500" dirty="0"/>
          </a:p>
        </p:txBody>
      </p:sp>
      <p:sp>
        <p:nvSpPr>
          <p:cNvPr id="7" name="Text 4"/>
          <p:cNvSpPr txBox="1"/>
          <p:nvPr/>
        </p:nvSpPr>
        <p:spPr>
          <a:xfrm>
            <a:off x="8412480" y="3657600"/>
            <a:ext cx="320040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Hour and weekday</a:t>
            </a:r>
            <a:endParaRPr lang="en-US" sz="1400" dirty="0"/>
          </a:p>
          <a:p>
            <a:pPr marL="342900" indent="-342900">
              <a:spcAft>
                <a:spcPts val="400"/>
              </a:spcAft>
              <a:buSzPct val="100000"/>
              <a:buChar char="•"/>
            </a:pPr>
            <a:r>
              <a:rPr lang="en-US" sz="1400" dirty="0">
                <a:solidFill>
                  <a:schemeClr val="tx2"/>
                </a:solidFill>
              </a:rPr>
              <a:t>Festival windows (Navratri, Diwali)</a:t>
            </a:r>
            <a:endParaRPr lang="en-US" sz="1400" dirty="0"/>
          </a:p>
          <a:p>
            <a:pPr marL="342900" indent="-342900">
              <a:spcAft>
                <a:spcPts val="400"/>
              </a:spcAft>
              <a:buSzPct val="100000"/>
              <a:buChar char="•"/>
            </a:pPr>
            <a:r>
              <a:rPr lang="en-US" sz="1400" dirty="0">
                <a:solidFill>
                  <a:schemeClr val="tx2"/>
                </a:solidFill>
              </a:rPr>
              <a:t>Pilgrim-season index</a:t>
            </a:r>
            <a:endParaRPr lang="en-US" sz="1400" dirty="0"/>
          </a:p>
          <a:p>
            <a:pPr marL="342900" indent="-342900">
              <a:spcAft>
                <a:spcPts val="400"/>
              </a:spcAft>
              <a:buSzPct val="100000"/>
              <a:buChar char="•"/>
            </a:pPr>
            <a:r>
              <a:rPr lang="en-US" sz="1400" dirty="0">
                <a:solidFill>
                  <a:schemeClr val="tx2"/>
                </a:solidFill>
              </a:rPr>
              <a:t>Same hour yesterday and last week</a:t>
            </a:r>
            <a:endParaRPr lang="en-US" sz="1400" dirty="0"/>
          </a:p>
        </p:txBody>
      </p:sp>
      <p:sp>
        <p:nvSpPr>
          <p:cNvPr id="8" name="Text 5"/>
          <p:cNvSpPr txBox="1"/>
          <p:nvPr/>
        </p:nvSpPr>
        <p:spPr>
          <a:xfrm>
            <a:off x="8412480" y="5349240"/>
            <a:ext cx="3200400" cy="731520"/>
          </a:xfrm>
          <a:prstGeom prst="rect">
            <a:avLst/>
          </a:prstGeom>
          <a:noFill/>
          <a:ln/>
        </p:spPr>
        <p:txBody>
          <a:bodyPr wrap="square" lIns="0" tIns="0" rIns="0" bIns="0" rtlCol="0" anchor="t"/>
          <a:lstStyle/>
          <a:p>
            <a:pPr indent="0" marL="0">
              <a:buNone/>
            </a:pPr>
            <a:r>
              <a:rPr lang="en-US" sz="1200" i="1" dirty="0">
                <a:solidFill>
                  <a:schemeClr val="tx2"/>
                </a:solidFill>
              </a:rPr>
              <a:t>Back-tested on the last 7 of 8 weeks of simulated history. Real error is measured in the pilot.</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What makes ParkPulse different</a:t>
            </a:r>
            <a:endParaRPr lang="en-US" sz="3200" dirty="0"/>
          </a:p>
        </p:txBody>
      </p:sp>
      <p:sp>
        <p:nvSpPr>
          <p:cNvPr id="3" name="Unique 1 circle"/>
          <p:cNvSpPr/>
          <p:nvPr/>
        </p:nvSpPr>
        <p:spPr>
          <a:xfrm>
            <a:off x="548640" y="1417320"/>
            <a:ext cx="731520" cy="731520"/>
          </a:xfrm>
          <a:prstGeom prst="ellipse">
            <a:avLst/>
          </a:prstGeom>
          <a:solidFill>
            <a:schemeClr val="accent1"/>
          </a:solidFill>
          <a:ln/>
        </p:spPr>
      </p:sp>
      <p:pic>
        <p:nvPicPr>
          <p:cNvPr id="4" name="Unique 1 icon" descr="preencoded.png">    </p:cNvPr>
          <p:cNvPicPr>
            <a:picLocks noChangeAspect="1"/>
          </p:cNvPicPr>
          <p:nvPr/>
        </p:nvPicPr>
        <p:blipFill>
          <a:blip r:embed="rId1"/>
          <a:stretch>
            <a:fillRect/>
          </a:stretch>
        </p:blipFill>
        <p:spPr>
          <a:xfrm>
            <a:off x="709574" y="1578254"/>
            <a:ext cx="409651" cy="409651"/>
          </a:xfrm>
          <a:prstGeom prst="rect">
            <a:avLst/>
          </a:prstGeom>
        </p:spPr>
      </p:pic>
      <p:sp>
        <p:nvSpPr>
          <p:cNvPr id="5" name="Text 2"/>
          <p:cNvSpPr txBox="1"/>
          <p:nvPr/>
        </p:nvSpPr>
        <p:spPr>
          <a:xfrm>
            <a:off x="1508760" y="1399032"/>
            <a:ext cx="4480560" cy="411480"/>
          </a:xfrm>
          <a:prstGeom prst="rect">
            <a:avLst/>
          </a:prstGeom>
          <a:noFill/>
          <a:ln/>
        </p:spPr>
        <p:txBody>
          <a:bodyPr wrap="square" lIns="0" tIns="0" rIns="0" bIns="0" rtlCol="0" anchor="t"/>
          <a:lstStyle/>
          <a:p>
            <a:pPr indent="0" marL="0">
              <a:buNone/>
            </a:pPr>
            <a:r>
              <a:rPr lang="en-US" sz="1800" b="1" dirty="0">
                <a:solidFill>
                  <a:schemeClr val="bg1"/>
                </a:solidFill>
              </a:rPr>
              <a:t>Reuses the city's cameras</a:t>
            </a:r>
            <a:endParaRPr lang="en-US" sz="1800" dirty="0"/>
          </a:p>
        </p:txBody>
      </p:sp>
      <p:sp>
        <p:nvSpPr>
          <p:cNvPr id="6" name="Text 3"/>
          <p:cNvSpPr txBox="1"/>
          <p:nvPr/>
        </p:nvSpPr>
        <p:spPr>
          <a:xfrm>
            <a:off x="1508760" y="1828800"/>
            <a:ext cx="4480560" cy="777240"/>
          </a:xfrm>
          <a:prstGeom prst="rect">
            <a:avLst/>
          </a:prstGeom>
          <a:noFill/>
          <a:ln/>
        </p:spPr>
        <p:txBody>
          <a:bodyPr wrap="square" lIns="0" tIns="0" rIns="0" bIns="0" rtlCol="0" anchor="t"/>
          <a:lstStyle/>
          <a:p>
            <a:pPr indent="0" marL="0">
              <a:buNone/>
            </a:pPr>
            <a:r>
              <a:rPr lang="en-US" sz="1400" dirty="0">
                <a:solidFill>
                  <a:srgbClr val="B9C2D3"/>
                </a:solidFill>
              </a:rPr>
              <a:t>Almost no new hardware, so a pilot starts in weeks, not months.</a:t>
            </a:r>
            <a:endParaRPr lang="en-US" sz="1400" dirty="0"/>
          </a:p>
        </p:txBody>
      </p:sp>
      <p:sp>
        <p:nvSpPr>
          <p:cNvPr id="7" name="Unique 2 circle"/>
          <p:cNvSpPr/>
          <p:nvPr/>
        </p:nvSpPr>
        <p:spPr>
          <a:xfrm>
            <a:off x="6217920" y="1417320"/>
            <a:ext cx="731520" cy="731520"/>
          </a:xfrm>
          <a:prstGeom prst="ellipse">
            <a:avLst/>
          </a:prstGeom>
          <a:solidFill>
            <a:schemeClr val="accent1"/>
          </a:solidFill>
          <a:ln/>
        </p:spPr>
      </p:sp>
      <p:pic>
        <p:nvPicPr>
          <p:cNvPr id="8" name="Unique 2 icon" descr="preencoded.png">    </p:cNvPr>
          <p:cNvPicPr>
            <a:picLocks noChangeAspect="1"/>
          </p:cNvPicPr>
          <p:nvPr/>
        </p:nvPicPr>
        <p:blipFill>
          <a:blip r:embed="rId2"/>
          <a:stretch>
            <a:fillRect/>
          </a:stretch>
        </p:blipFill>
        <p:spPr>
          <a:xfrm>
            <a:off x="6378854" y="1578254"/>
            <a:ext cx="409651" cy="409651"/>
          </a:xfrm>
          <a:prstGeom prst="rect">
            <a:avLst/>
          </a:prstGeom>
        </p:spPr>
      </p:pic>
      <p:sp>
        <p:nvSpPr>
          <p:cNvPr id="9" name="Text 5"/>
          <p:cNvSpPr txBox="1"/>
          <p:nvPr/>
        </p:nvSpPr>
        <p:spPr>
          <a:xfrm>
            <a:off x="7178040" y="1399032"/>
            <a:ext cx="4480560" cy="411480"/>
          </a:xfrm>
          <a:prstGeom prst="rect">
            <a:avLst/>
          </a:prstGeom>
          <a:noFill/>
          <a:ln/>
        </p:spPr>
        <p:txBody>
          <a:bodyPr wrap="square" lIns="0" tIns="0" rIns="0" bIns="0" rtlCol="0" anchor="t"/>
          <a:lstStyle/>
          <a:p>
            <a:pPr indent="0" marL="0">
              <a:buNone/>
            </a:pPr>
            <a:r>
              <a:rPr lang="en-US" sz="1800" b="1" dirty="0">
                <a:solidFill>
                  <a:schemeClr val="bg1"/>
                </a:solidFill>
              </a:rPr>
              <a:t>WhatsApp, in local languages</a:t>
            </a:r>
            <a:endParaRPr lang="en-US" sz="1800" dirty="0"/>
          </a:p>
        </p:txBody>
      </p:sp>
      <p:sp>
        <p:nvSpPr>
          <p:cNvPr id="10" name="Text 6"/>
          <p:cNvSpPr txBox="1"/>
          <p:nvPr/>
        </p:nvSpPr>
        <p:spPr>
          <a:xfrm>
            <a:off x="7178040" y="1828800"/>
            <a:ext cx="4480560" cy="777240"/>
          </a:xfrm>
          <a:prstGeom prst="rect">
            <a:avLst/>
          </a:prstGeom>
          <a:noFill/>
          <a:ln/>
        </p:spPr>
        <p:txBody>
          <a:bodyPr wrap="square" lIns="0" tIns="0" rIns="0" bIns="0" rtlCol="0" anchor="t"/>
          <a:lstStyle/>
          <a:p>
            <a:pPr indent="0" marL="0">
              <a:buNone/>
            </a:pPr>
            <a:r>
              <a:rPr lang="en-US" sz="1400" dirty="0">
                <a:solidFill>
                  <a:srgbClr val="B9C2D3"/>
                </a:solidFill>
              </a:rPr>
              <a:t>Reaches residents and pilgrims who will never install another app.</a:t>
            </a:r>
            <a:endParaRPr lang="en-US" sz="1400" dirty="0"/>
          </a:p>
        </p:txBody>
      </p:sp>
      <p:sp>
        <p:nvSpPr>
          <p:cNvPr id="11" name="Unique 3 circle"/>
          <p:cNvSpPr/>
          <p:nvPr/>
        </p:nvSpPr>
        <p:spPr>
          <a:xfrm>
            <a:off x="548640" y="3017520"/>
            <a:ext cx="731520" cy="731520"/>
          </a:xfrm>
          <a:prstGeom prst="ellipse">
            <a:avLst/>
          </a:prstGeom>
          <a:solidFill>
            <a:schemeClr val="accent1"/>
          </a:solidFill>
          <a:ln/>
        </p:spPr>
      </p:sp>
      <p:pic>
        <p:nvPicPr>
          <p:cNvPr id="12" name="Unique 3 icon" descr="preencoded.png">    </p:cNvPr>
          <p:cNvPicPr>
            <a:picLocks noChangeAspect="1"/>
          </p:cNvPicPr>
          <p:nvPr/>
        </p:nvPicPr>
        <p:blipFill>
          <a:blip r:embed="rId3"/>
          <a:stretch>
            <a:fillRect/>
          </a:stretch>
        </p:blipFill>
        <p:spPr>
          <a:xfrm>
            <a:off x="709574" y="3178454"/>
            <a:ext cx="409651" cy="409651"/>
          </a:xfrm>
          <a:prstGeom prst="rect">
            <a:avLst/>
          </a:prstGeom>
        </p:spPr>
      </p:pic>
      <p:sp>
        <p:nvSpPr>
          <p:cNvPr id="13" name="Text 8"/>
          <p:cNvSpPr txBox="1"/>
          <p:nvPr/>
        </p:nvSpPr>
        <p:spPr>
          <a:xfrm>
            <a:off x="1508760" y="2999232"/>
            <a:ext cx="4480560" cy="411480"/>
          </a:xfrm>
          <a:prstGeom prst="rect">
            <a:avLst/>
          </a:prstGeom>
          <a:noFill/>
          <a:ln/>
        </p:spPr>
        <p:txBody>
          <a:bodyPr wrap="square" lIns="0" tIns="0" rIns="0" bIns="0" rtlCol="0" anchor="t"/>
          <a:lstStyle/>
          <a:p>
            <a:pPr indent="0" marL="0">
              <a:buNone/>
            </a:pPr>
            <a:r>
              <a:rPr lang="en-US" sz="1800" b="1" dirty="0">
                <a:solidFill>
                  <a:schemeClr val="bg1"/>
                </a:solidFill>
              </a:rPr>
              <a:t>Three jobs from one system</a:t>
            </a:r>
            <a:endParaRPr lang="en-US" sz="1800" dirty="0"/>
          </a:p>
        </p:txBody>
      </p:sp>
      <p:sp>
        <p:nvSpPr>
          <p:cNvPr id="14" name="Text 9"/>
          <p:cNvSpPr txBox="1"/>
          <p:nvPr/>
        </p:nvSpPr>
        <p:spPr>
          <a:xfrm>
            <a:off x="1508760" y="3429000"/>
            <a:ext cx="4480560" cy="777240"/>
          </a:xfrm>
          <a:prstGeom prst="rect">
            <a:avLst/>
          </a:prstGeom>
          <a:noFill/>
          <a:ln/>
        </p:spPr>
        <p:txBody>
          <a:bodyPr wrap="square" lIns="0" tIns="0" rIns="0" bIns="0" rtlCol="0" anchor="t"/>
          <a:lstStyle/>
          <a:p>
            <a:pPr indent="0" marL="0">
              <a:buNone/>
            </a:pPr>
            <a:r>
              <a:rPr lang="en-US" sz="1400" dirty="0">
                <a:solidFill>
                  <a:srgbClr val="B9C2D3"/>
                </a:solidFill>
              </a:rPr>
              <a:t>Guides drivers, feeds enforcement and gives planners data at the same time.</a:t>
            </a:r>
            <a:endParaRPr lang="en-US" sz="1400" dirty="0"/>
          </a:p>
        </p:txBody>
      </p:sp>
      <p:sp>
        <p:nvSpPr>
          <p:cNvPr id="15" name="Unique 4 circle"/>
          <p:cNvSpPr/>
          <p:nvPr/>
        </p:nvSpPr>
        <p:spPr>
          <a:xfrm>
            <a:off x="6217920" y="3017520"/>
            <a:ext cx="731520" cy="731520"/>
          </a:xfrm>
          <a:prstGeom prst="ellipse">
            <a:avLst/>
          </a:prstGeom>
          <a:solidFill>
            <a:schemeClr val="accent1"/>
          </a:solidFill>
          <a:ln/>
        </p:spPr>
      </p:sp>
      <p:pic>
        <p:nvPicPr>
          <p:cNvPr id="16" name="Unique 4 icon" descr="preencoded.png">    </p:cNvPr>
          <p:cNvPicPr>
            <a:picLocks noChangeAspect="1"/>
          </p:cNvPicPr>
          <p:nvPr/>
        </p:nvPicPr>
        <p:blipFill>
          <a:blip r:embed="rId4"/>
          <a:stretch>
            <a:fillRect/>
          </a:stretch>
        </p:blipFill>
        <p:spPr>
          <a:xfrm>
            <a:off x="6378854" y="3178454"/>
            <a:ext cx="409651" cy="409651"/>
          </a:xfrm>
          <a:prstGeom prst="rect">
            <a:avLst/>
          </a:prstGeom>
        </p:spPr>
      </p:pic>
      <p:sp>
        <p:nvSpPr>
          <p:cNvPr id="17" name="Text 11"/>
          <p:cNvSpPr txBox="1"/>
          <p:nvPr/>
        </p:nvSpPr>
        <p:spPr>
          <a:xfrm>
            <a:off x="7178040" y="2999232"/>
            <a:ext cx="4480560" cy="411480"/>
          </a:xfrm>
          <a:prstGeom prst="rect">
            <a:avLst/>
          </a:prstGeom>
          <a:noFill/>
          <a:ln/>
        </p:spPr>
        <p:txBody>
          <a:bodyPr wrap="square" lIns="0" tIns="0" rIns="0" bIns="0" rtlCol="0" anchor="t"/>
          <a:lstStyle/>
          <a:p>
            <a:pPr indent="0" marL="0">
              <a:buNone/>
            </a:pPr>
            <a:r>
              <a:rPr lang="en-US" sz="1800" b="1" dirty="0">
                <a:solidFill>
                  <a:schemeClr val="bg1"/>
                </a:solidFill>
              </a:rPr>
              <a:t>Tuned to Jammu</a:t>
            </a:r>
            <a:endParaRPr lang="en-US" sz="1800" dirty="0"/>
          </a:p>
        </p:txBody>
      </p:sp>
      <p:sp>
        <p:nvSpPr>
          <p:cNvPr id="18" name="Text 12"/>
          <p:cNvSpPr txBox="1"/>
          <p:nvPr/>
        </p:nvSpPr>
        <p:spPr>
          <a:xfrm>
            <a:off x="7178040" y="3429000"/>
            <a:ext cx="4480560" cy="777240"/>
          </a:xfrm>
          <a:prstGeom prst="rect">
            <a:avLst/>
          </a:prstGeom>
          <a:noFill/>
          <a:ln/>
        </p:spPr>
        <p:txBody>
          <a:bodyPr wrap="square" lIns="0" tIns="0" rIns="0" bIns="0" rtlCol="0" anchor="t"/>
          <a:lstStyle/>
          <a:p>
            <a:pPr indent="0" marL="0">
              <a:buNone/>
            </a:pPr>
            <a:r>
              <a:rPr lang="en-US" sz="1400" dirty="0">
                <a:solidFill>
                  <a:srgbClr val="B9C2D3"/>
                </a:solidFill>
              </a:rPr>
              <a:t>Forecasts know market days, festivals and the Vaishno Devi pilgrim season.</a:t>
            </a:r>
            <a:endParaRPr lang="en-US" sz="1400" dirty="0"/>
          </a:p>
        </p:txBody>
      </p:sp>
      <p:sp>
        <p:nvSpPr>
          <p:cNvPr id="19" name="Unique 5 circle"/>
          <p:cNvSpPr/>
          <p:nvPr/>
        </p:nvSpPr>
        <p:spPr>
          <a:xfrm>
            <a:off x="548640" y="4617720"/>
            <a:ext cx="731520" cy="731520"/>
          </a:xfrm>
          <a:prstGeom prst="ellipse">
            <a:avLst/>
          </a:prstGeom>
          <a:solidFill>
            <a:schemeClr val="accent1"/>
          </a:solidFill>
          <a:ln/>
        </p:spPr>
      </p:sp>
      <p:pic>
        <p:nvPicPr>
          <p:cNvPr id="20" name="Unique 5 icon" descr="preencoded.png">    </p:cNvPr>
          <p:cNvPicPr>
            <a:picLocks noChangeAspect="1"/>
          </p:cNvPicPr>
          <p:nvPr/>
        </p:nvPicPr>
        <p:blipFill>
          <a:blip r:embed="rId5"/>
          <a:stretch>
            <a:fillRect/>
          </a:stretch>
        </p:blipFill>
        <p:spPr>
          <a:xfrm>
            <a:off x="709574" y="4778654"/>
            <a:ext cx="409651" cy="409651"/>
          </a:xfrm>
          <a:prstGeom prst="rect">
            <a:avLst/>
          </a:prstGeom>
        </p:spPr>
      </p:pic>
      <p:sp>
        <p:nvSpPr>
          <p:cNvPr id="21" name="Text 14"/>
          <p:cNvSpPr txBox="1"/>
          <p:nvPr/>
        </p:nvSpPr>
        <p:spPr>
          <a:xfrm>
            <a:off x="1508760" y="4599432"/>
            <a:ext cx="4480560" cy="411480"/>
          </a:xfrm>
          <a:prstGeom prst="rect">
            <a:avLst/>
          </a:prstGeom>
          <a:noFill/>
          <a:ln/>
        </p:spPr>
        <p:txBody>
          <a:bodyPr wrap="square" lIns="0" tIns="0" rIns="0" bIns="0" rtlCol="0" anchor="t"/>
          <a:lstStyle/>
          <a:p>
            <a:pPr indent="0" marL="0">
              <a:buNone/>
            </a:pPr>
            <a:r>
              <a:rPr lang="en-US" sz="1800" b="1" dirty="0">
                <a:solidFill>
                  <a:schemeClr val="bg1"/>
                </a:solidFill>
              </a:rPr>
              <a:t>Private by default</a:t>
            </a:r>
            <a:endParaRPr lang="en-US" sz="1800" dirty="0"/>
          </a:p>
        </p:txBody>
      </p:sp>
      <p:sp>
        <p:nvSpPr>
          <p:cNvPr id="22" name="Text 15"/>
          <p:cNvSpPr txBox="1"/>
          <p:nvPr/>
        </p:nvSpPr>
        <p:spPr>
          <a:xfrm>
            <a:off x="1508760" y="5029200"/>
            <a:ext cx="4480560" cy="777240"/>
          </a:xfrm>
          <a:prstGeom prst="rect">
            <a:avLst/>
          </a:prstGeom>
          <a:noFill/>
          <a:ln/>
        </p:spPr>
        <p:txBody>
          <a:bodyPr wrap="square" lIns="0" tIns="0" rIns="0" bIns="0" rtlCol="0" anchor="t"/>
          <a:lstStyle/>
          <a:p>
            <a:pPr indent="0" marL="0">
              <a:buNone/>
            </a:pPr>
            <a:r>
              <a:rPr lang="en-US" sz="1400" dirty="0">
                <a:solidFill>
                  <a:srgbClr val="B9C2D3"/>
                </a:solidFill>
              </a:rPr>
              <a:t>Blurring on the device and counts-only uploads make it easier for a government body to adopt.</a:t>
            </a:r>
            <a:endParaRPr lang="en-US" sz="1400" dirty="0"/>
          </a:p>
        </p:txBody>
      </p:sp>
      <p:sp>
        <p:nvSpPr>
          <p:cNvPr id="23" name="Unique 6 circle"/>
          <p:cNvSpPr/>
          <p:nvPr/>
        </p:nvSpPr>
        <p:spPr>
          <a:xfrm>
            <a:off x="6217920" y="4617720"/>
            <a:ext cx="731520" cy="731520"/>
          </a:xfrm>
          <a:prstGeom prst="ellipse">
            <a:avLst/>
          </a:prstGeom>
          <a:solidFill>
            <a:schemeClr val="accent1"/>
          </a:solidFill>
          <a:ln/>
        </p:spPr>
      </p:sp>
      <p:pic>
        <p:nvPicPr>
          <p:cNvPr id="24" name="Unique 6 icon" descr="preencoded.png">    </p:cNvPr>
          <p:cNvPicPr>
            <a:picLocks noChangeAspect="1"/>
          </p:cNvPicPr>
          <p:nvPr/>
        </p:nvPicPr>
        <p:blipFill>
          <a:blip r:embed="rId6"/>
          <a:stretch>
            <a:fillRect/>
          </a:stretch>
        </p:blipFill>
        <p:spPr>
          <a:xfrm>
            <a:off x="6378854" y="4778654"/>
            <a:ext cx="409651" cy="409651"/>
          </a:xfrm>
          <a:prstGeom prst="rect">
            <a:avLst/>
          </a:prstGeom>
        </p:spPr>
      </p:pic>
      <p:sp>
        <p:nvSpPr>
          <p:cNvPr id="25" name="Text 17"/>
          <p:cNvSpPr txBox="1"/>
          <p:nvPr/>
        </p:nvSpPr>
        <p:spPr>
          <a:xfrm>
            <a:off x="7178040" y="4599432"/>
            <a:ext cx="4480560" cy="411480"/>
          </a:xfrm>
          <a:prstGeom prst="rect">
            <a:avLst/>
          </a:prstGeom>
          <a:noFill/>
          <a:ln/>
        </p:spPr>
        <p:txBody>
          <a:bodyPr wrap="square" lIns="0" tIns="0" rIns="0" bIns="0" rtlCol="0" anchor="t"/>
          <a:lstStyle/>
          <a:p>
            <a:pPr indent="0" marL="0">
              <a:buNone/>
            </a:pPr>
            <a:r>
              <a:rPr lang="en-US" sz="1800" b="1" dirty="0">
                <a:solidFill>
                  <a:schemeClr val="bg1"/>
                </a:solidFill>
              </a:rPr>
              <a:t>Cheap to run</a:t>
            </a:r>
            <a:endParaRPr lang="en-US" sz="1800" dirty="0"/>
          </a:p>
        </p:txBody>
      </p:sp>
      <p:sp>
        <p:nvSpPr>
          <p:cNvPr id="26" name="Text 18"/>
          <p:cNvSpPr txBox="1"/>
          <p:nvPr/>
        </p:nvSpPr>
        <p:spPr>
          <a:xfrm>
            <a:off x="7178040" y="5029200"/>
            <a:ext cx="4480560" cy="777240"/>
          </a:xfrm>
          <a:prstGeom prst="rect">
            <a:avLst/>
          </a:prstGeom>
          <a:noFill/>
          <a:ln/>
        </p:spPr>
        <p:txBody>
          <a:bodyPr wrap="square" lIns="0" tIns="0" rIns="0" bIns="0" rtlCol="0" anchor="t"/>
          <a:lstStyle/>
          <a:p>
            <a:pPr indent="0" marL="0">
              <a:buNone/>
            </a:pPr>
            <a:r>
              <a:rPr lang="en-US" sz="1400" dirty="0">
                <a:solidFill>
                  <a:srgbClr val="B9C2D3"/>
                </a:solidFill>
              </a:rPr>
              <a:t>Classical vision runs on a Raspberry Pi; open-source stack, no licence fees.</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3B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Impact we will measure in a 12-week pilot</a:t>
            </a:r>
            <a:endParaRPr lang="en-US" sz="3200" dirty="0"/>
          </a:p>
        </p:txBody>
      </p:sp>
      <p:sp>
        <p:nvSpPr>
          <p:cNvPr id="3" name="Text 1"/>
          <p:cNvSpPr txBox="1"/>
          <p:nvPr/>
        </p:nvSpPr>
        <p:spPr>
          <a:xfrm>
            <a:off x="548640" y="1188720"/>
            <a:ext cx="10972800" cy="411480"/>
          </a:xfrm>
          <a:prstGeom prst="rect">
            <a:avLst/>
          </a:prstGeom>
          <a:noFill/>
          <a:ln/>
        </p:spPr>
        <p:txBody>
          <a:bodyPr wrap="square" lIns="0" tIns="0" rIns="0" bIns="0" rtlCol="0" anchor="t"/>
          <a:lstStyle/>
          <a:p>
            <a:pPr indent="0" marL="0">
              <a:buNone/>
            </a:pPr>
            <a:r>
              <a:rPr lang="en-US" sz="1600" dirty="0">
                <a:solidFill>
                  <a:schemeClr val="tx2"/>
                </a:solidFill>
              </a:rPr>
              <a:t>Targets for 2–3 high-demand zones, measured against a pre-pilot baseline. These are goals, not results.</a:t>
            </a:r>
            <a:endParaRPr lang="en-US" sz="1600" dirty="0"/>
          </a:p>
        </p:txBody>
      </p:sp>
      <p:sp>
        <p:nvSpPr>
          <p:cNvPr id="4" name="Impact card 1"/>
          <p:cNvSpPr/>
          <p:nvPr/>
        </p:nvSpPr>
        <p:spPr>
          <a:xfrm>
            <a:off x="548640" y="1874520"/>
            <a:ext cx="3520440" cy="2377440"/>
          </a:xfrm>
          <a:prstGeom prst="roundRect">
            <a:avLst>
              <a:gd name="adj" fmla="val 307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sp>
        <p:nvSpPr>
          <p:cNvPr id="5" name="Text 3"/>
          <p:cNvSpPr txBox="1"/>
          <p:nvPr/>
        </p:nvSpPr>
        <p:spPr>
          <a:xfrm>
            <a:off x="822960" y="2148840"/>
            <a:ext cx="2971800" cy="1005840"/>
          </a:xfrm>
          <a:prstGeom prst="rect">
            <a:avLst/>
          </a:prstGeom>
          <a:noFill/>
          <a:ln/>
        </p:spPr>
        <p:txBody>
          <a:bodyPr wrap="square" lIns="0" tIns="0" rIns="0" bIns="0" rtlCol="0" anchor="t"/>
          <a:lstStyle/>
          <a:p>
            <a:pPr indent="0" marL="0">
              <a:buNone/>
            </a:pPr>
            <a:r>
              <a:rPr lang="en-US" sz="5400" b="1" dirty="0">
                <a:solidFill>
                  <a:schemeClr val="accent1"/>
                </a:solidFill>
              </a:rPr>
              <a:t>25–30%</a:t>
            </a:r>
            <a:endParaRPr lang="en-US" sz="5400" dirty="0"/>
          </a:p>
        </p:txBody>
      </p:sp>
      <p:sp>
        <p:nvSpPr>
          <p:cNvPr id="6" name="Text 4"/>
          <p:cNvSpPr txBox="1"/>
          <p:nvPr/>
        </p:nvSpPr>
        <p:spPr>
          <a:xfrm>
            <a:off x="822960" y="3200400"/>
            <a:ext cx="2971800" cy="822960"/>
          </a:xfrm>
          <a:prstGeom prst="rect">
            <a:avLst/>
          </a:prstGeom>
          <a:noFill/>
          <a:ln/>
        </p:spPr>
        <p:txBody>
          <a:bodyPr wrap="square" lIns="0" tIns="0" rIns="0" bIns="0" rtlCol="0" anchor="t"/>
          <a:lstStyle/>
          <a:p>
            <a:pPr indent="0" marL="0">
              <a:buNone/>
            </a:pPr>
            <a:r>
              <a:rPr lang="en-US" sz="1600" dirty="0">
                <a:solidFill>
                  <a:schemeClr val="tx1"/>
                </a:solidFill>
              </a:rPr>
              <a:t>less time spent searching for parking</a:t>
            </a:r>
            <a:endParaRPr lang="en-US" sz="1600" dirty="0"/>
          </a:p>
        </p:txBody>
      </p:sp>
      <p:sp>
        <p:nvSpPr>
          <p:cNvPr id="7" name="Impact card 2"/>
          <p:cNvSpPr/>
          <p:nvPr/>
        </p:nvSpPr>
        <p:spPr>
          <a:xfrm>
            <a:off x="4297680" y="1874520"/>
            <a:ext cx="3520440" cy="2377440"/>
          </a:xfrm>
          <a:prstGeom prst="roundRect">
            <a:avLst>
              <a:gd name="adj" fmla="val 307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sp>
        <p:nvSpPr>
          <p:cNvPr id="8" name="Text 6"/>
          <p:cNvSpPr txBox="1"/>
          <p:nvPr/>
        </p:nvSpPr>
        <p:spPr>
          <a:xfrm>
            <a:off x="4572000" y="2148840"/>
            <a:ext cx="2971800" cy="1005840"/>
          </a:xfrm>
          <a:prstGeom prst="rect">
            <a:avLst/>
          </a:prstGeom>
          <a:noFill/>
          <a:ln/>
        </p:spPr>
        <p:txBody>
          <a:bodyPr wrap="square" lIns="0" tIns="0" rIns="0" bIns="0" rtlCol="0" anchor="t"/>
          <a:lstStyle/>
          <a:p>
            <a:pPr indent="0" marL="0">
              <a:buNone/>
            </a:pPr>
            <a:r>
              <a:rPr lang="en-US" sz="5400" b="1" dirty="0">
                <a:solidFill>
                  <a:schemeClr val="accent3"/>
                </a:solidFill>
              </a:rPr>
              <a:t>20–25%</a:t>
            </a:r>
            <a:endParaRPr lang="en-US" sz="5400" dirty="0"/>
          </a:p>
        </p:txBody>
      </p:sp>
      <p:sp>
        <p:nvSpPr>
          <p:cNvPr id="9" name="Text 7"/>
          <p:cNvSpPr txBox="1"/>
          <p:nvPr/>
        </p:nvSpPr>
        <p:spPr>
          <a:xfrm>
            <a:off x="4572000" y="3200400"/>
            <a:ext cx="2971800" cy="822960"/>
          </a:xfrm>
          <a:prstGeom prst="rect">
            <a:avLst/>
          </a:prstGeom>
          <a:noFill/>
          <a:ln/>
        </p:spPr>
        <p:txBody>
          <a:bodyPr wrap="square" lIns="0" tIns="0" rIns="0" bIns="0" rtlCol="0" anchor="t"/>
          <a:lstStyle/>
          <a:p>
            <a:pPr indent="0" marL="0">
              <a:buNone/>
            </a:pPr>
            <a:r>
              <a:rPr lang="en-US" sz="1600" dirty="0">
                <a:solidFill>
                  <a:schemeClr val="tx1"/>
                </a:solidFill>
              </a:rPr>
              <a:t>fewer illegal-parking incidents</a:t>
            </a:r>
            <a:endParaRPr lang="en-US" sz="1600" dirty="0"/>
          </a:p>
        </p:txBody>
      </p:sp>
      <p:sp>
        <p:nvSpPr>
          <p:cNvPr id="10" name="Impact card 3"/>
          <p:cNvSpPr/>
          <p:nvPr/>
        </p:nvSpPr>
        <p:spPr>
          <a:xfrm>
            <a:off x="8046720" y="1874520"/>
            <a:ext cx="3520440" cy="2377440"/>
          </a:xfrm>
          <a:prstGeom prst="roundRect">
            <a:avLst>
              <a:gd name="adj" fmla="val 3077"/>
            </a:avLst>
          </a:prstGeom>
          <a:solidFill>
            <a:schemeClr val="bg1"/>
          </a:solidFill>
          <a:ln w="9525">
            <a:solidFill>
              <a:schemeClr val="accent5"/>
            </a:solidFill>
            <a:prstDash val="solid"/>
          </a:ln>
          <a:effectLst>
            <a:outerShdw sx="100000" sy="100000" kx="0" ky="0" algn="bl" rotWithShape="0" blurRad="76200" dist="25400" dir="5400000">
              <a:srgbClr val="1D2433">
                <a:alpha val="18000"/>
              </a:srgbClr>
            </a:outerShdw>
          </a:effectLst>
        </p:spPr>
      </p:sp>
      <p:sp>
        <p:nvSpPr>
          <p:cNvPr id="11" name="Text 9"/>
          <p:cNvSpPr txBox="1"/>
          <p:nvPr/>
        </p:nvSpPr>
        <p:spPr>
          <a:xfrm>
            <a:off x="8321040" y="2148840"/>
            <a:ext cx="2971800" cy="1005840"/>
          </a:xfrm>
          <a:prstGeom prst="rect">
            <a:avLst/>
          </a:prstGeom>
          <a:noFill/>
          <a:ln/>
        </p:spPr>
        <p:txBody>
          <a:bodyPr wrap="square" lIns="0" tIns="0" rIns="0" bIns="0" rtlCol="0" anchor="t"/>
          <a:lstStyle/>
          <a:p>
            <a:pPr indent="0" marL="0">
              <a:buNone/>
            </a:pPr>
            <a:r>
              <a:rPr lang="en-US" sz="5400" b="1" dirty="0">
                <a:solidFill>
                  <a:schemeClr val="accent2"/>
                </a:solidFill>
              </a:rPr>
              <a:t>15–20%</a:t>
            </a:r>
            <a:endParaRPr lang="en-US" sz="5400" dirty="0"/>
          </a:p>
        </p:txBody>
      </p:sp>
      <p:sp>
        <p:nvSpPr>
          <p:cNvPr id="12" name="Text 10"/>
          <p:cNvSpPr txBox="1"/>
          <p:nvPr/>
        </p:nvSpPr>
        <p:spPr>
          <a:xfrm>
            <a:off x="8321040" y="3200400"/>
            <a:ext cx="2971800" cy="822960"/>
          </a:xfrm>
          <a:prstGeom prst="rect">
            <a:avLst/>
          </a:prstGeom>
          <a:noFill/>
          <a:ln/>
        </p:spPr>
        <p:txBody>
          <a:bodyPr wrap="square" lIns="0" tIns="0" rIns="0" bIns="0" rtlCol="0" anchor="t"/>
          <a:lstStyle/>
          <a:p>
            <a:pPr indent="0" marL="0">
              <a:buNone/>
            </a:pPr>
            <a:r>
              <a:rPr lang="en-US" sz="1600" dirty="0">
                <a:solidFill>
                  <a:schemeClr val="tx1"/>
                </a:solidFill>
              </a:rPr>
              <a:t>more parking fee collected</a:t>
            </a:r>
            <a:endParaRPr lang="en-US" sz="1600" dirty="0"/>
          </a:p>
        </p:txBody>
      </p:sp>
      <p:sp>
        <p:nvSpPr>
          <p:cNvPr id="13" name="Text 11"/>
          <p:cNvSpPr txBox="1"/>
          <p:nvPr/>
        </p:nvSpPr>
        <p:spPr>
          <a:xfrm>
            <a:off x="548640" y="4572000"/>
            <a:ext cx="3657600" cy="320040"/>
          </a:xfrm>
          <a:prstGeom prst="rect">
            <a:avLst/>
          </a:prstGeom>
          <a:noFill/>
          <a:ln/>
        </p:spPr>
        <p:txBody>
          <a:bodyPr wrap="square" lIns="0" tIns="0" rIns="0" bIns="0" rtlCol="0" anchor="t"/>
          <a:lstStyle/>
          <a:p>
            <a:pPr indent="0" marL="0">
              <a:buNone/>
            </a:pPr>
            <a:r>
              <a:rPr lang="en-US" sz="1600" b="1" dirty="0">
                <a:solidFill>
                  <a:schemeClr val="tx1"/>
                </a:solidFill>
              </a:rPr>
              <a:t>Also expected</a:t>
            </a:r>
            <a:endParaRPr lang="en-US" sz="1600" dirty="0"/>
          </a:p>
        </p:txBody>
      </p:sp>
      <p:sp>
        <p:nvSpPr>
          <p:cNvPr id="14" name="Text 12"/>
          <p:cNvSpPr txBox="1"/>
          <p:nvPr/>
        </p:nvSpPr>
        <p:spPr>
          <a:xfrm>
            <a:off x="548640" y="4937760"/>
            <a:ext cx="1097280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Less circling in markets, so less congestion and fewer emissions</a:t>
            </a:r>
            <a:endParaRPr lang="en-US" sz="1400" dirty="0"/>
          </a:p>
          <a:p>
            <a:pPr marL="342900" indent="-342900">
              <a:spcAft>
                <a:spcPts val="400"/>
              </a:spcAft>
              <a:buSzPct val="100000"/>
              <a:buChar char="•"/>
            </a:pPr>
            <a:r>
              <a:rPr lang="en-US" sz="1400" dirty="0">
                <a:solidFill>
                  <a:schemeClr val="tx2"/>
                </a:solidFill>
              </a:rPr>
              <a:t>Steadier footfall for shopkeepers; an easier first visit for pilgrims and tourists</a:t>
            </a:r>
            <a:endParaRPr lang="en-US" sz="1400" dirty="0"/>
          </a:p>
          <a:p>
            <a:pPr marL="342900" indent="-342900">
              <a:spcAft>
                <a:spcPts val="400"/>
              </a:spcAft>
              <a:buSzPct val="100000"/>
              <a:buChar char="•"/>
            </a:pPr>
            <a:r>
              <a:rPr lang="en-US" sz="1400" dirty="0">
                <a:solidFill>
                  <a:schemeClr val="tx2"/>
                </a:solidFill>
              </a:rPr>
              <a:t>Data for JMC and JSCL to set capacity, pricing and enforcement ward by ward</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single-zone pilot costs under ₹1 lakh</a:t>
            </a:r>
            <a:endParaRPr lang="en-US" sz="3200" dirty="0"/>
          </a:p>
        </p:txBody>
      </p:sp>
      <p:graphicFrame>
        <p:nvGraphicFramePr>
          <p:cNvPr id="12" name="Cost table"/>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5120640"/>
                <a:gridCol w="2103120"/>
              </a:tblGrid>
              <a:tr h="475488">
                <a:tc>
                  <a:txBody>
                    <a:bodyPr/>
                    <a:lstStyle/>
                    <a:p>
                      <a:pPr algn="l" indent="0" marL="0">
                        <a:buNone/>
                      </a:pPr>
                      <a:r>
                        <a:rPr lang="en-US" sz="1300" b="1" dirty="0">
                          <a:solidFill>
                            <a:srgbClr val="FFFFFF"/>
                          </a:solidFill>
                        </a:rPr>
                        <a:t>Item</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1D2433"/>
                    </a:solidFill>
                  </a:tcPr>
                </a:tc>
                <a:tc>
                  <a:txBody>
                    <a:bodyPr/>
                    <a:lstStyle/>
                    <a:p>
                      <a:pPr algn="r" indent="0" marL="0">
                        <a:buNone/>
                      </a:pPr>
                      <a:r>
                        <a:rPr lang="en-US" sz="1300" b="1" dirty="0">
                          <a:solidFill>
                            <a:srgbClr val="FFFFFF"/>
                          </a:solidFill>
                        </a:rPr>
                        <a:t>Approx. cost</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1D2433"/>
                    </a:solidFill>
                  </a:tcPr>
                </a:tc>
              </a:tr>
              <a:tr h="475488">
                <a:tc>
                  <a:txBody>
                    <a:bodyPr/>
                    <a:lstStyle/>
                    <a:p>
                      <a:pPr indent="0" marL="0">
                        <a:buNone/>
                      </a:pPr>
                      <a:r>
                        <a:rPr lang="en-US" sz="1300" dirty="0">
                          <a:solidFill>
                            <a:srgbClr val="1D2433"/>
                          </a:solidFill>
                        </a:rPr>
                        <a:t>2 edge AI devices (Raspberry Pi 5 + accelerator, or Jetson Orin Nano)</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D2433"/>
                          </a:solidFill>
                        </a:rPr>
                        <a:t>₹25,000–45,000</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D2433"/>
                          </a:solidFill>
                        </a:rPr>
                        <a:t>2–3 IP cameras with mounts (only if city feeds are not shared)</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D2433"/>
                          </a:solidFill>
                        </a:rPr>
                        <a:t>₹10,000–18,000</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D2433"/>
                          </a:solidFill>
                        </a:rPr>
                        <a:t>4G routers and data SIMs</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D2433"/>
                          </a:solidFill>
                        </a:rPr>
                        <a:t>₹5,000–8,000</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D2433"/>
                          </a:solidFill>
                        </a:rPr>
                        <a:t>Cloud hosting, database and maps, 3 months</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D2433"/>
                          </a:solidFill>
                        </a:rPr>
                        <a:t>₹6,000–12,000</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D2433"/>
                          </a:solidFill>
                        </a:rPr>
                        <a:t>WhatsApp Business API messaging</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D2433"/>
                          </a:solidFill>
                        </a:rPr>
                        <a:t>₹3,000–6,000</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D2433"/>
                          </a:solidFill>
                        </a:rPr>
                        <a:t>Power, weatherproofing, testing</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D2433"/>
                          </a:solidFill>
                        </a:rPr>
                        <a:t>₹5,000–10,000</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D2433"/>
                          </a:solidFill>
                        </a:rPr>
                        <a:t>Total</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D2433"/>
                          </a:solidFill>
                        </a:rPr>
                        <a:t>₹55,000–1,00,000</a:t>
                      </a:r>
                      <a:endParaRPr lang="en-US" sz="1300" dirty="0"/>
                    </a:p>
                  </a:txBody>
                  <a:tcPr marL="109728" marR="109728" marT="0" marB="0" anchor="ctr">
                    <a:lnL w="9525" cap="flat" cmpd="sng" algn="ctr">
                      <a:solidFill>
                        <a:srgbClr val="CFD6D1"/>
                      </a:solidFill>
                      <a:prstDash val="solid"/>
                      <a:round/>
                      <a:headEnd type="none" w="med" len="med"/>
                      <a:tailEnd type="none" w="med" len="med"/>
                    </a:lnL>
                    <a:lnR w="9525" cap="flat" cmpd="sng" algn="ctr">
                      <a:solidFill>
                        <a:srgbClr val="CFD6D1"/>
                      </a:solidFill>
                      <a:prstDash val="solid"/>
                      <a:round/>
                      <a:headEnd type="none" w="med" len="med"/>
                      <a:tailEnd type="none" w="med" len="med"/>
                    </a:lnR>
                    <a:lnT w="9525" cap="flat" cmpd="sng" algn="ctr">
                      <a:solidFill>
                        <a:srgbClr val="CFD6D1"/>
                      </a:solidFill>
                      <a:prstDash val="solid"/>
                      <a:round/>
                      <a:headEnd type="none" w="med" len="med"/>
                      <a:tailEnd type="none" w="med" len="med"/>
                    </a:lnT>
                    <a:lnB w="9525" cap="flat" cmpd="sng" algn="ctr">
                      <a:solidFill>
                        <a:srgbClr val="CFD6D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303520"/>
            <a:ext cx="7223760" cy="274320"/>
          </a:xfrm>
          <a:prstGeom prst="rect">
            <a:avLst/>
          </a:prstGeom>
          <a:noFill/>
          <a:ln/>
        </p:spPr>
        <p:txBody>
          <a:bodyPr wrap="square" lIns="0" tIns="0" rIns="0" bIns="0" rtlCol="0" anchor="t"/>
          <a:lstStyle/>
          <a:p>
            <a:pPr indent="0" marL="0">
              <a:buNone/>
            </a:pPr>
            <a:r>
              <a:rPr lang="en-US" sz="1200" i="1" dirty="0">
                <a:solidFill>
                  <a:schemeClr val="tx2"/>
                </a:solidFill>
              </a:rPr>
              <a:t>Prices are typical Indian retail estimates.</a:t>
            </a:r>
            <a:endParaRPr lang="en-US" sz="1200" dirty="0"/>
          </a:p>
        </p:txBody>
      </p:sp>
      <p:sp>
        <p:nvSpPr>
          <p:cNvPr id="5" name="Text 2"/>
          <p:cNvSpPr txBox="1"/>
          <p:nvPr/>
        </p:nvSpPr>
        <p:spPr>
          <a:xfrm>
            <a:off x="8229600" y="1325880"/>
            <a:ext cx="3383280" cy="822960"/>
          </a:xfrm>
          <a:prstGeom prst="rect">
            <a:avLst/>
          </a:prstGeom>
          <a:noFill/>
          <a:ln/>
        </p:spPr>
        <p:txBody>
          <a:bodyPr wrap="square" lIns="0" tIns="0" rIns="0" bIns="0" rtlCol="0" anchor="t"/>
          <a:lstStyle/>
          <a:p>
            <a:pPr indent="0" marL="0">
              <a:buNone/>
            </a:pPr>
            <a:r>
              <a:rPr lang="en-US" sz="4400" b="1" dirty="0">
                <a:solidFill>
                  <a:schemeClr val="accent1"/>
                </a:solidFill>
              </a:rPr>
              <a:t>≈ ₹75,000</a:t>
            </a:r>
            <a:endParaRPr lang="en-US" sz="4400" dirty="0"/>
          </a:p>
        </p:txBody>
      </p:sp>
      <p:sp>
        <p:nvSpPr>
          <p:cNvPr id="6" name="Text 3"/>
          <p:cNvSpPr txBox="1"/>
          <p:nvPr/>
        </p:nvSpPr>
        <p:spPr>
          <a:xfrm>
            <a:off x="8229600" y="2148840"/>
            <a:ext cx="3383280" cy="457200"/>
          </a:xfrm>
          <a:prstGeom prst="rect">
            <a:avLst/>
          </a:prstGeom>
          <a:noFill/>
          <a:ln/>
        </p:spPr>
        <p:txBody>
          <a:bodyPr wrap="square" lIns="0" tIns="0" rIns="0" bIns="0" rtlCol="0" anchor="t"/>
          <a:lstStyle/>
          <a:p>
            <a:pPr indent="0" marL="0">
              <a:buNone/>
            </a:pPr>
            <a:r>
              <a:rPr lang="en-US" sz="1500" dirty="0">
                <a:solidFill>
                  <a:schemeClr val="tx2"/>
                </a:solidFill>
              </a:rPr>
              <a:t>for one zone with our own cameras</a:t>
            </a:r>
            <a:endParaRPr lang="en-US" sz="1500" dirty="0"/>
          </a:p>
        </p:txBody>
      </p:sp>
      <p:sp>
        <p:nvSpPr>
          <p:cNvPr id="7" name="Text 4"/>
          <p:cNvSpPr txBox="1"/>
          <p:nvPr/>
        </p:nvSpPr>
        <p:spPr>
          <a:xfrm>
            <a:off x="8229600" y="3017520"/>
            <a:ext cx="3383280" cy="822960"/>
          </a:xfrm>
          <a:prstGeom prst="rect">
            <a:avLst/>
          </a:prstGeom>
          <a:noFill/>
          <a:ln/>
        </p:spPr>
        <p:txBody>
          <a:bodyPr wrap="square" lIns="0" tIns="0" rIns="0" bIns="0" rtlCol="0" anchor="t"/>
          <a:lstStyle/>
          <a:p>
            <a:pPr indent="0" marL="0">
              <a:buNone/>
            </a:pPr>
            <a:r>
              <a:rPr lang="en-US" sz="4400" b="1" dirty="0">
                <a:solidFill>
                  <a:schemeClr val="accent2"/>
                </a:solidFill>
              </a:rPr>
              <a:t>≈ ₹20,000</a:t>
            </a:r>
            <a:endParaRPr lang="en-US" sz="4400" dirty="0"/>
          </a:p>
        </p:txBody>
      </p:sp>
      <p:sp>
        <p:nvSpPr>
          <p:cNvPr id="8" name="Text 5"/>
          <p:cNvSpPr txBox="1"/>
          <p:nvPr/>
        </p:nvSpPr>
        <p:spPr>
          <a:xfrm>
            <a:off x="8229600" y="3840480"/>
            <a:ext cx="3383280" cy="457200"/>
          </a:xfrm>
          <a:prstGeom prst="rect">
            <a:avLst/>
          </a:prstGeom>
          <a:noFill/>
          <a:ln/>
        </p:spPr>
        <p:txBody>
          <a:bodyPr wrap="square" lIns="0" tIns="0" rIns="0" bIns="0" rtlCol="0" anchor="t"/>
          <a:lstStyle/>
          <a:p>
            <a:pPr indent="0" marL="0">
              <a:buNone/>
            </a:pPr>
            <a:r>
              <a:rPr lang="en-US" sz="1500" dirty="0">
                <a:solidFill>
                  <a:schemeClr val="tx2"/>
                </a:solidFill>
              </a:rPr>
              <a:t>if the city shares existing CCTV feeds</a:t>
            </a:r>
            <a:endParaRPr lang="en-US" sz="1500" dirty="0"/>
          </a:p>
        </p:txBody>
      </p:sp>
      <p:sp>
        <p:nvSpPr>
          <p:cNvPr id="9" name="Text 6"/>
          <p:cNvSpPr txBox="1"/>
          <p:nvPr/>
        </p:nvSpPr>
        <p:spPr>
          <a:xfrm>
            <a:off x="8229600" y="4663440"/>
            <a:ext cx="3291840" cy="914400"/>
          </a:xfrm>
          <a:prstGeom prst="rect">
            <a:avLst/>
          </a:prstGeom>
          <a:noFill/>
          <a:ln/>
        </p:spPr>
        <p:txBody>
          <a:bodyPr wrap="square" lIns="0" tIns="0" rIns="0" bIns="0" rtlCol="0" anchor="t"/>
          <a:lstStyle/>
          <a:p>
            <a:pPr indent="0" marL="0">
              <a:buNone/>
            </a:pPr>
            <a:r>
              <a:rPr lang="en-US" sz="1400" dirty="0">
                <a:solidFill>
                  <a:schemeClr val="tx1"/>
                </a:solidFill>
              </a:rPr>
              <a:t>The software is already built and open source, so the money goes on hardware and running costs.</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12 weeks from approval to a rollout decision</a:t>
            </a:r>
            <a:endParaRPr lang="en-US" sz="3200" dirty="0"/>
          </a:p>
        </p:txBody>
      </p:sp>
      <p:sp>
        <p:nvSpPr>
          <p:cNvPr id="3" name="Timeline"/>
          <p:cNvSpPr/>
          <p:nvPr/>
        </p:nvSpPr>
        <p:spPr>
          <a:xfrm>
            <a:off x="822960" y="1828800"/>
            <a:ext cx="10515600" cy="0"/>
          </a:xfrm>
          <a:prstGeom prst="line">
            <a:avLst/>
          </a:prstGeom>
          <a:noFill/>
          <a:ln w="25400">
            <a:solidFill>
              <a:schemeClr val="accent5"/>
            </a:solidFill>
            <a:prstDash val="solid"/>
          </a:ln>
        </p:spPr>
      </p:sp>
      <p:sp>
        <p:nvSpPr>
          <p:cNvPr id="4" name="Milestone 1"/>
          <p:cNvSpPr/>
          <p:nvPr/>
        </p:nvSpPr>
        <p:spPr>
          <a:xfrm>
            <a:off x="685800" y="1691640"/>
            <a:ext cx="274320" cy="274320"/>
          </a:xfrm>
          <a:prstGeom prst="ellipse">
            <a:avLst/>
          </a:prstGeom>
          <a:solidFill>
            <a:schemeClr val="accent1"/>
          </a:solidFill>
          <a:ln w="38100">
            <a:solidFill>
              <a:schemeClr val="bg2"/>
            </a:solidFill>
            <a:prstDash val="solid"/>
          </a:ln>
        </p:spPr>
      </p:sp>
      <p:sp>
        <p:nvSpPr>
          <p:cNvPr id="5" name="Text 3"/>
          <p:cNvSpPr txBox="1"/>
          <p:nvPr/>
        </p:nvSpPr>
        <p:spPr>
          <a:xfrm>
            <a:off x="548640" y="2148840"/>
            <a:ext cx="2606040" cy="320040"/>
          </a:xfrm>
          <a:prstGeom prst="rect">
            <a:avLst/>
          </a:prstGeom>
          <a:noFill/>
          <a:ln/>
        </p:spPr>
        <p:txBody>
          <a:bodyPr wrap="square" lIns="0" tIns="0" rIns="0" bIns="0" rtlCol="0" anchor="t"/>
          <a:lstStyle/>
          <a:p>
            <a:pPr indent="0" marL="0">
              <a:buNone/>
            </a:pPr>
            <a:r>
              <a:rPr lang="en-US" sz="1300" b="1" dirty="0">
                <a:solidFill>
                  <a:schemeClr val="accent1"/>
                </a:solidFill>
              </a:rPr>
              <a:t>Weeks 1–2</a:t>
            </a:r>
            <a:endParaRPr lang="en-US" sz="1300" dirty="0"/>
          </a:p>
        </p:txBody>
      </p:sp>
      <p:sp>
        <p:nvSpPr>
          <p:cNvPr id="6" name="Text 4"/>
          <p:cNvSpPr txBox="1"/>
          <p:nvPr/>
        </p:nvSpPr>
        <p:spPr>
          <a:xfrm>
            <a:off x="548640" y="2487168"/>
            <a:ext cx="2606040" cy="411480"/>
          </a:xfrm>
          <a:prstGeom prst="rect">
            <a:avLst/>
          </a:prstGeom>
          <a:noFill/>
          <a:ln/>
        </p:spPr>
        <p:txBody>
          <a:bodyPr wrap="square" lIns="0" tIns="0" rIns="0" bIns="0" rtlCol="0" anchor="t"/>
          <a:lstStyle/>
          <a:p>
            <a:pPr indent="0" marL="0">
              <a:buNone/>
            </a:pPr>
            <a:r>
              <a:rPr lang="en-US" sz="2000" b="1" dirty="0">
                <a:solidFill>
                  <a:schemeClr val="tx1"/>
                </a:solidFill>
              </a:rPr>
              <a:t>Pick zones</a:t>
            </a:r>
            <a:endParaRPr lang="en-US" sz="2000" dirty="0"/>
          </a:p>
        </p:txBody>
      </p:sp>
      <p:sp>
        <p:nvSpPr>
          <p:cNvPr id="7" name="Text 5"/>
          <p:cNvSpPr txBox="1"/>
          <p:nvPr/>
        </p:nvSpPr>
        <p:spPr>
          <a:xfrm>
            <a:off x="548640" y="2971800"/>
            <a:ext cx="2560320" cy="1554480"/>
          </a:xfrm>
          <a:prstGeom prst="rect">
            <a:avLst/>
          </a:prstGeom>
          <a:noFill/>
          <a:ln/>
        </p:spPr>
        <p:txBody>
          <a:bodyPr wrap="square" lIns="0" tIns="0" rIns="0" bIns="0" rtlCol="0" anchor="t"/>
          <a:lstStyle/>
          <a:p>
            <a:pPr indent="0" marL="0">
              <a:buNone/>
            </a:pPr>
            <a:r>
              <a:rPr lang="en-US" sz="1400" dirty="0">
                <a:solidFill>
                  <a:schemeClr val="tx2"/>
                </a:solidFill>
              </a:rPr>
              <a:t>Choose 2–3 zones with JMC, such as Raghunath Bazaar, Residency Road and Gandhi Nagar. Get camera access or mount low-cost cameras.</a:t>
            </a:r>
            <a:endParaRPr lang="en-US" sz="1400" dirty="0"/>
          </a:p>
        </p:txBody>
      </p:sp>
      <p:sp>
        <p:nvSpPr>
          <p:cNvPr id="8" name="Milestone 2"/>
          <p:cNvSpPr/>
          <p:nvPr/>
        </p:nvSpPr>
        <p:spPr>
          <a:xfrm>
            <a:off x="3502152" y="1691640"/>
            <a:ext cx="274320" cy="274320"/>
          </a:xfrm>
          <a:prstGeom prst="ellipse">
            <a:avLst/>
          </a:prstGeom>
          <a:solidFill>
            <a:schemeClr val="accent1"/>
          </a:solidFill>
          <a:ln w="38100">
            <a:solidFill>
              <a:schemeClr val="bg2"/>
            </a:solidFill>
            <a:prstDash val="solid"/>
          </a:ln>
        </p:spPr>
      </p:sp>
      <p:sp>
        <p:nvSpPr>
          <p:cNvPr id="9" name="Text 7"/>
          <p:cNvSpPr txBox="1"/>
          <p:nvPr/>
        </p:nvSpPr>
        <p:spPr>
          <a:xfrm>
            <a:off x="3364992" y="2148840"/>
            <a:ext cx="2606040" cy="320040"/>
          </a:xfrm>
          <a:prstGeom prst="rect">
            <a:avLst/>
          </a:prstGeom>
          <a:noFill/>
          <a:ln/>
        </p:spPr>
        <p:txBody>
          <a:bodyPr wrap="square" lIns="0" tIns="0" rIns="0" bIns="0" rtlCol="0" anchor="t"/>
          <a:lstStyle/>
          <a:p>
            <a:pPr indent="0" marL="0">
              <a:buNone/>
            </a:pPr>
            <a:r>
              <a:rPr lang="en-US" sz="1300" b="1" dirty="0">
                <a:solidFill>
                  <a:schemeClr val="accent1"/>
                </a:solidFill>
              </a:rPr>
              <a:t>Weeks 3–4</a:t>
            </a:r>
            <a:endParaRPr lang="en-US" sz="1300" dirty="0"/>
          </a:p>
        </p:txBody>
      </p:sp>
      <p:sp>
        <p:nvSpPr>
          <p:cNvPr id="10" name="Text 8"/>
          <p:cNvSpPr txBox="1"/>
          <p:nvPr/>
        </p:nvSpPr>
        <p:spPr>
          <a:xfrm>
            <a:off x="3364992" y="2487168"/>
            <a:ext cx="2606040" cy="411480"/>
          </a:xfrm>
          <a:prstGeom prst="rect">
            <a:avLst/>
          </a:prstGeom>
          <a:noFill/>
          <a:ln/>
        </p:spPr>
        <p:txBody>
          <a:bodyPr wrap="square" lIns="0" tIns="0" rIns="0" bIns="0" rtlCol="0" anchor="t"/>
          <a:lstStyle/>
          <a:p>
            <a:pPr indent="0" marL="0">
              <a:buNone/>
            </a:pPr>
            <a:r>
              <a:rPr lang="en-US" sz="2000" b="1" dirty="0">
                <a:solidFill>
                  <a:schemeClr val="tx1"/>
                </a:solidFill>
              </a:rPr>
              <a:t>Calibrate</a:t>
            </a:r>
            <a:endParaRPr lang="en-US" sz="2000" dirty="0"/>
          </a:p>
        </p:txBody>
      </p:sp>
      <p:sp>
        <p:nvSpPr>
          <p:cNvPr id="11" name="Text 9"/>
          <p:cNvSpPr txBox="1"/>
          <p:nvPr/>
        </p:nvSpPr>
        <p:spPr>
          <a:xfrm>
            <a:off x="3364992" y="2971800"/>
            <a:ext cx="2560320" cy="1554480"/>
          </a:xfrm>
          <a:prstGeom prst="rect">
            <a:avLst/>
          </a:prstGeom>
          <a:noFill/>
          <a:ln/>
        </p:spPr>
        <p:txBody>
          <a:bodyPr wrap="square" lIns="0" tIns="0" rIns="0" bIns="0" rtlCol="0" anchor="t"/>
          <a:lstStyle/>
          <a:p>
            <a:pPr indent="0" marL="0">
              <a:buNone/>
            </a:pPr>
            <a:r>
              <a:rPr lang="en-US" sz="1400" dirty="0">
                <a:solidFill>
                  <a:schemeClr val="tx2"/>
                </a:solidFill>
              </a:rPr>
              <a:t>Draw bay outlines, label a few hundred real frames, pick the vision backend per camera and check accuracy against manual counts.</a:t>
            </a:r>
            <a:endParaRPr lang="en-US" sz="1400" dirty="0"/>
          </a:p>
        </p:txBody>
      </p:sp>
      <p:sp>
        <p:nvSpPr>
          <p:cNvPr id="12" name="Milestone 3"/>
          <p:cNvSpPr/>
          <p:nvPr/>
        </p:nvSpPr>
        <p:spPr>
          <a:xfrm>
            <a:off x="6318504" y="1691640"/>
            <a:ext cx="274320" cy="274320"/>
          </a:xfrm>
          <a:prstGeom prst="ellipse">
            <a:avLst/>
          </a:prstGeom>
          <a:solidFill>
            <a:schemeClr val="accent1"/>
          </a:solidFill>
          <a:ln w="38100">
            <a:solidFill>
              <a:schemeClr val="bg2"/>
            </a:solidFill>
            <a:prstDash val="solid"/>
          </a:ln>
        </p:spPr>
      </p:sp>
      <p:sp>
        <p:nvSpPr>
          <p:cNvPr id="13" name="Text 11"/>
          <p:cNvSpPr txBox="1"/>
          <p:nvPr/>
        </p:nvSpPr>
        <p:spPr>
          <a:xfrm>
            <a:off x="6181344" y="2148840"/>
            <a:ext cx="2606040" cy="320040"/>
          </a:xfrm>
          <a:prstGeom prst="rect">
            <a:avLst/>
          </a:prstGeom>
          <a:noFill/>
          <a:ln/>
        </p:spPr>
        <p:txBody>
          <a:bodyPr wrap="square" lIns="0" tIns="0" rIns="0" bIns="0" rtlCol="0" anchor="t"/>
          <a:lstStyle/>
          <a:p>
            <a:pPr indent="0" marL="0">
              <a:buNone/>
            </a:pPr>
            <a:r>
              <a:rPr lang="en-US" sz="1300" b="1" dirty="0">
                <a:solidFill>
                  <a:schemeClr val="accent1"/>
                </a:solidFill>
              </a:rPr>
              <a:t>Weeks 5–8</a:t>
            </a:r>
            <a:endParaRPr lang="en-US" sz="1300" dirty="0"/>
          </a:p>
        </p:txBody>
      </p:sp>
      <p:sp>
        <p:nvSpPr>
          <p:cNvPr id="14" name="Text 12"/>
          <p:cNvSpPr txBox="1"/>
          <p:nvPr/>
        </p:nvSpPr>
        <p:spPr>
          <a:xfrm>
            <a:off x="6181344" y="2487168"/>
            <a:ext cx="2606040" cy="411480"/>
          </a:xfrm>
          <a:prstGeom prst="rect">
            <a:avLst/>
          </a:prstGeom>
          <a:noFill/>
          <a:ln/>
        </p:spPr>
        <p:txBody>
          <a:bodyPr wrap="square" lIns="0" tIns="0" rIns="0" bIns="0" rtlCol="0" anchor="t"/>
          <a:lstStyle/>
          <a:p>
            <a:pPr indent="0" marL="0">
              <a:buNone/>
            </a:pPr>
            <a:r>
              <a:rPr lang="en-US" sz="2000" b="1" dirty="0">
                <a:solidFill>
                  <a:schemeClr val="tx1"/>
                </a:solidFill>
              </a:rPr>
              <a:t>Go live</a:t>
            </a:r>
            <a:endParaRPr lang="en-US" sz="2000" dirty="0"/>
          </a:p>
        </p:txBody>
      </p:sp>
      <p:sp>
        <p:nvSpPr>
          <p:cNvPr id="15" name="Text 13"/>
          <p:cNvSpPr txBox="1"/>
          <p:nvPr/>
        </p:nvSpPr>
        <p:spPr>
          <a:xfrm>
            <a:off x="6181344" y="2971800"/>
            <a:ext cx="2560320" cy="1554480"/>
          </a:xfrm>
          <a:prstGeom prst="rect">
            <a:avLst/>
          </a:prstGeom>
          <a:noFill/>
          <a:ln/>
        </p:spPr>
        <p:txBody>
          <a:bodyPr wrap="square" lIns="0" tIns="0" rIns="0" bIns="0" rtlCol="0" anchor="t"/>
          <a:lstStyle/>
          <a:p>
            <a:pPr indent="0" marL="0">
              <a:buNone/>
            </a:pPr>
            <a:r>
              <a:rPr lang="en-US" sz="1400" dirty="0">
                <a:solidFill>
                  <a:schemeClr val="tx2"/>
                </a:solidFill>
              </a:rPr>
              <a:t>Open the bot to a test group, route alerts to one traffic police unit, review Dogri and Urdu copy with native speakers.</a:t>
            </a:r>
            <a:endParaRPr lang="en-US" sz="1400" dirty="0"/>
          </a:p>
        </p:txBody>
      </p:sp>
      <p:sp>
        <p:nvSpPr>
          <p:cNvPr id="16" name="Milestone 4"/>
          <p:cNvSpPr/>
          <p:nvPr/>
        </p:nvSpPr>
        <p:spPr>
          <a:xfrm>
            <a:off x="9134856" y="1691640"/>
            <a:ext cx="274320" cy="274320"/>
          </a:xfrm>
          <a:prstGeom prst="ellipse">
            <a:avLst/>
          </a:prstGeom>
          <a:solidFill>
            <a:schemeClr val="accent1"/>
          </a:solidFill>
          <a:ln w="38100">
            <a:solidFill>
              <a:schemeClr val="bg2"/>
            </a:solidFill>
            <a:prstDash val="solid"/>
          </a:ln>
        </p:spPr>
      </p:sp>
      <p:sp>
        <p:nvSpPr>
          <p:cNvPr id="17" name="Text 15"/>
          <p:cNvSpPr txBox="1"/>
          <p:nvPr/>
        </p:nvSpPr>
        <p:spPr>
          <a:xfrm>
            <a:off x="8997696" y="2148840"/>
            <a:ext cx="2606040" cy="320040"/>
          </a:xfrm>
          <a:prstGeom prst="rect">
            <a:avLst/>
          </a:prstGeom>
          <a:noFill/>
          <a:ln/>
        </p:spPr>
        <p:txBody>
          <a:bodyPr wrap="square" lIns="0" tIns="0" rIns="0" bIns="0" rtlCol="0" anchor="t"/>
          <a:lstStyle/>
          <a:p>
            <a:pPr indent="0" marL="0">
              <a:buNone/>
            </a:pPr>
            <a:r>
              <a:rPr lang="en-US" sz="1300" b="1" dirty="0">
                <a:solidFill>
                  <a:schemeClr val="accent1"/>
                </a:solidFill>
              </a:rPr>
              <a:t>Weeks 9–12</a:t>
            </a:r>
            <a:endParaRPr lang="en-US" sz="1300" dirty="0"/>
          </a:p>
        </p:txBody>
      </p:sp>
      <p:sp>
        <p:nvSpPr>
          <p:cNvPr id="18" name="Text 16"/>
          <p:cNvSpPr txBox="1"/>
          <p:nvPr/>
        </p:nvSpPr>
        <p:spPr>
          <a:xfrm>
            <a:off x="8997696" y="2487168"/>
            <a:ext cx="2606040" cy="411480"/>
          </a:xfrm>
          <a:prstGeom prst="rect">
            <a:avLst/>
          </a:prstGeom>
          <a:noFill/>
          <a:ln/>
        </p:spPr>
        <p:txBody>
          <a:bodyPr wrap="square" lIns="0" tIns="0" rIns="0" bIns="0" rtlCol="0" anchor="t"/>
          <a:lstStyle/>
          <a:p>
            <a:pPr indent="0" marL="0">
              <a:buNone/>
            </a:pPr>
            <a:r>
              <a:rPr lang="en-US" sz="2000" b="1" dirty="0">
                <a:solidFill>
                  <a:schemeClr val="tx1"/>
                </a:solidFill>
              </a:rPr>
              <a:t>Measure</a:t>
            </a:r>
            <a:endParaRPr lang="en-US" sz="2000" dirty="0"/>
          </a:p>
        </p:txBody>
      </p:sp>
      <p:sp>
        <p:nvSpPr>
          <p:cNvPr id="19" name="Text 17"/>
          <p:cNvSpPr txBox="1"/>
          <p:nvPr/>
        </p:nvSpPr>
        <p:spPr>
          <a:xfrm>
            <a:off x="8997696" y="2971800"/>
            <a:ext cx="2560320" cy="1554480"/>
          </a:xfrm>
          <a:prstGeom prst="rect">
            <a:avLst/>
          </a:prstGeom>
          <a:noFill/>
          <a:ln/>
        </p:spPr>
        <p:txBody>
          <a:bodyPr wrap="square" lIns="0" tIns="0" rIns="0" bIns="0" rtlCol="0" anchor="t"/>
          <a:lstStyle/>
          <a:p>
            <a:pPr indent="0" marL="0">
              <a:buNone/>
            </a:pPr>
            <a:r>
              <a:rPr lang="en-US" sz="1400" dirty="0">
                <a:solidFill>
                  <a:schemeClr val="tx2"/>
                </a:solidFill>
              </a:rPr>
              <a:t>Compare search time, illegal parking and fee collection with the baseline, then decide on ward-by-ward rollout.</a:t>
            </a:r>
            <a:endParaRPr lang="en-US" sz="1400" dirty="0"/>
          </a:p>
        </p:txBody>
      </p:sp>
      <p:sp>
        <p:nvSpPr>
          <p:cNvPr id="20" name="Asks card"/>
          <p:cNvSpPr/>
          <p:nvPr/>
        </p:nvSpPr>
        <p:spPr>
          <a:xfrm>
            <a:off x="548640" y="4800600"/>
            <a:ext cx="11064240" cy="1325880"/>
          </a:xfrm>
          <a:prstGeom prst="roundRect">
            <a:avLst>
              <a:gd name="adj" fmla="val 5517"/>
            </a:avLst>
          </a:prstGeom>
          <a:solidFill>
            <a:schemeClr val="accent6"/>
          </a:solidFill>
          <a:ln/>
        </p:spPr>
      </p:sp>
      <p:sp>
        <p:nvSpPr>
          <p:cNvPr id="21" name="Text 19"/>
          <p:cNvSpPr txBox="1"/>
          <p:nvPr/>
        </p:nvSpPr>
        <p:spPr>
          <a:xfrm>
            <a:off x="822960" y="4937760"/>
            <a:ext cx="10515600" cy="365760"/>
          </a:xfrm>
          <a:prstGeom prst="rect">
            <a:avLst/>
          </a:prstGeom>
          <a:noFill/>
          <a:ln/>
        </p:spPr>
        <p:txBody>
          <a:bodyPr wrap="square" lIns="0" tIns="0" rIns="0" bIns="0" rtlCol="0" anchor="t"/>
          <a:lstStyle/>
          <a:p>
            <a:pPr indent="0" marL="0">
              <a:buNone/>
            </a:pPr>
            <a:r>
              <a:rPr lang="en-US" sz="1700" b="1" dirty="0">
                <a:solidFill>
                  <a:schemeClr val="tx1"/>
                </a:solidFill>
              </a:rPr>
              <a:t>What we need from the city</a:t>
            </a:r>
            <a:endParaRPr lang="en-US" sz="1700" dirty="0"/>
          </a:p>
        </p:txBody>
      </p:sp>
      <p:sp>
        <p:nvSpPr>
          <p:cNvPr id="22" name="Text 20"/>
          <p:cNvSpPr txBox="1"/>
          <p:nvPr/>
        </p:nvSpPr>
        <p:spPr>
          <a:xfrm>
            <a:off x="822960" y="5321808"/>
            <a:ext cx="10515600" cy="685800"/>
          </a:xfrm>
          <a:prstGeom prst="rect">
            <a:avLst/>
          </a:prstGeom>
          <a:noFill/>
          <a:ln/>
        </p:spPr>
        <p:txBody>
          <a:bodyPr wrap="square" lIns="0" tIns="0" rIns="0" bIns="0" rtlCol="0" anchor="t"/>
          <a:lstStyle/>
          <a:p>
            <a:pPr indent="0" marL="0">
              <a:buNone/>
            </a:pPr>
            <a:r>
              <a:rPr lang="en-US" sz="1400" dirty="0">
                <a:solidFill>
                  <a:schemeClr val="tx1"/>
                </a:solidFill>
              </a:rPr>
              <a:t>Read access to camera feeds in the pilot zones, current parking capacity and fee records, a traffic police contact for alerts, and mentorship from JSCL's command centre team.</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1280160"/>
          </a:xfrm>
          <a:prstGeom prst="rect">
            <a:avLst/>
          </a:prstGeom>
          <a:noFill/>
          <a:ln/>
        </p:spPr>
        <p:txBody>
          <a:bodyPr wrap="square" lIns="0" tIns="0" rIns="0" bIns="0" rtlCol="0" anchor="b"/>
          <a:lstStyle/>
          <a:p>
            <a:pPr algn="l" indent="0" marL="0">
              <a:buNone/>
            </a:pPr>
            <a:r>
              <a:rPr lang="en-US" sz="5400" b="1" dirty="0">
                <a:solidFill>
                  <a:schemeClr val="bg1"/>
                </a:solidFill>
              </a:rPr>
              <a:t>Built, running, ready for Jammu's cameras</a:t>
            </a:r>
            <a:endParaRPr lang="en-US" sz="5400" dirty="0"/>
          </a:p>
        </p:txBody>
      </p:sp>
      <p:sp>
        <p:nvSpPr>
          <p:cNvPr id="3" name="Text 0"/>
          <p:cNvSpPr/>
          <p:nvPr>
            <p:ph idx="101" type="body" hasCustomPrompt="1"/>
          </p:nvPr>
        </p:nvSpPr>
        <p:spPr>
          <a:xfrm>
            <a:off x="548640" y="3246120"/>
            <a:ext cx="6400800" cy="1280160"/>
          </a:xfrm>
          <a:prstGeom prst="rect">
            <a:avLst/>
          </a:prstGeom>
          <a:noFill/>
          <a:ln/>
        </p:spPr>
        <p:txBody>
          <a:bodyPr wrap="square" lIns="0" tIns="0" rIns="0" bIns="0" rtlCol="0" anchor="t"/>
          <a:lstStyle/>
          <a:p>
            <a:pPr algn="l" indent="0" marL="0">
              <a:buNone/>
            </a:pPr>
            <a:r>
              <a:rPr lang="en-US" sz="2000" dirty="0">
                <a:solidFill>
                  <a:schemeClr val="accent4"/>
                </a:solidFill>
              </a:rPr>
              <a:t>Every screen in this deck runs today. Connect two or three city camera feeds and we can measure real impact within a quarter.</a:t>
            </a:r>
            <a:endParaRPr lang="en-US" sz="2000" dirty="0"/>
          </a:p>
        </p:txBody>
      </p:sp>
      <p:sp>
        <p:nvSpPr>
          <p:cNvPr id="4" name="Text 2"/>
          <p:cNvSpPr txBox="1"/>
          <p:nvPr/>
        </p:nvSpPr>
        <p:spPr>
          <a:xfrm>
            <a:off x="548640" y="4800600"/>
            <a:ext cx="5486400" cy="320040"/>
          </a:xfrm>
          <a:prstGeom prst="rect">
            <a:avLst/>
          </a:prstGeom>
          <a:noFill/>
          <a:ln/>
        </p:spPr>
        <p:txBody>
          <a:bodyPr wrap="square" lIns="0" tIns="0" rIns="0" bIns="0" rtlCol="0" anchor="t"/>
          <a:lstStyle/>
          <a:p>
            <a:pPr indent="0" marL="0">
              <a:buNone/>
            </a:pPr>
            <a:r>
              <a:rPr lang="en-US" sz="1500" b="1" dirty="0">
                <a:solidFill>
                  <a:schemeClr val="bg1"/>
                </a:solidFill>
              </a:rPr>
              <a:t>Code, tests and docs</a:t>
            </a:r>
            <a:endParaRPr lang="en-US" sz="1500" dirty="0"/>
          </a:p>
        </p:txBody>
      </p:sp>
      <p:sp>
        <p:nvSpPr>
          <p:cNvPr id="5" name="Text 3"/>
          <p:cNvSpPr txBox="1"/>
          <p:nvPr/>
        </p:nvSpPr>
        <p:spPr>
          <a:xfrm>
            <a:off x="548640" y="5138928"/>
            <a:ext cx="6400800" cy="365760"/>
          </a:xfrm>
          <a:prstGeom prst="rect">
            <a:avLst/>
          </a:prstGeom>
          <a:noFill/>
          <a:ln/>
        </p:spPr>
        <p:txBody>
          <a:bodyPr wrap="square" lIns="0" tIns="0" rIns="0" bIns="0" rtlCol="0" anchor="t"/>
          <a:lstStyle/>
          <a:p>
            <a:pPr indent="0" marL="0">
              <a:buNone/>
            </a:pPr>
            <a:r>
              <a:rPr lang="en-US" sz="1800" u="sng" dirty="0">
                <a:solidFill>
                  <a:schemeClr val="accent4"/>
                </a:solidFill>
                <a:hlinkClick r:id="rId1" invalidUrl="" action="" tgtFrame="" tooltip="" history="1" highlightClick="0" endSnd="0">
                  <a:extLst>
                    <a:ext uri="{A12FA001-AC4F-418D-AE19-62706E023703}">
                      <ahyp:hlinkClr xmlns:ahyp="http://schemas.microsoft.com/office/drawing/2018/hyperlinkcolor" val="tx"/>
                    </a:ext>
                  </a:extLst>
                </a:hlinkClick>
              </a:rPr>
              <a:t>github.com/Aditya-eng/ParkPulse</a:t>
            </a:r>
            <a:endParaRPr lang="en-US" sz="1800" dirty="0"/>
          </a:p>
        </p:txBody>
      </p:sp>
      <p:sp>
        <p:nvSpPr>
          <p:cNvPr id="6" name="Text 4"/>
          <p:cNvSpPr txBox="1"/>
          <p:nvPr/>
        </p:nvSpPr>
        <p:spPr>
          <a:xfrm>
            <a:off x="548640" y="5715000"/>
            <a:ext cx="6400800" cy="365760"/>
          </a:xfrm>
          <a:prstGeom prst="rect">
            <a:avLst/>
          </a:prstGeom>
          <a:noFill/>
          <a:ln/>
        </p:spPr>
        <p:txBody>
          <a:bodyPr wrap="square" lIns="0" tIns="0" rIns="0" bIns="0" rtlCol="0" anchor="t"/>
          <a:lstStyle/>
          <a:p>
            <a:pPr indent="0" marL="0">
              <a:buNone/>
            </a:pPr>
            <a:r>
              <a:rPr lang="en-US" sz="1600" b="1" dirty="0">
                <a:solidFill>
                  <a:srgbClr val="B9C2D3"/>
                </a:solidFill>
              </a:rPr>
              <a:t>Team Byte Bros</a:t>
            </a:r>
            <a:endParaRPr lang="en-US" sz="1600" dirty="0"/>
          </a:p>
        </p:txBody>
      </p:sp>
      <p:pic>
        <p:nvPicPr>
          <p:cNvPr id="7" name="Citizen map screenshot" descr="/tmp/claude-0/pdfbuild/citizen.jpg">    </p:cNvPr>
          <p:cNvPicPr>
            <a:picLocks noChangeAspect="1"/>
          </p:cNvPicPr>
          <p:nvPr/>
        </p:nvPicPr>
        <p:blipFill>
          <a:blip r:embed="rId2"/>
          <a:stretch>
            <a:fillRect/>
          </a:stretch>
        </p:blipFill>
        <p:spPr>
          <a:xfrm>
            <a:off x="7498080" y="2128838"/>
            <a:ext cx="4160520" cy="2600325"/>
          </a:xfrm>
          <a:prstGeom prst="rect">
            <a:avLst/>
          </a:prstGeom>
        </p:spPr>
      </p:pic>
    </p:spTree>
  </p:cSld>
  <p:clrMapOvr>
    <a:masterClrMapping/>
  </p:clrMapOvr>
</p:sld>
</file>

<file path=ppt/theme/theme1.xml><?xml version="1.0" encoding="utf-8"?>
<a:theme xmlns:a="http://schemas.openxmlformats.org/drawingml/2006/main" name="ParkPulse">
  <a:themeElements>
    <a:clrScheme name="ParkPulse">
      <a:dk1>
        <a:srgbClr val="1D2433"/>
      </a:dk1>
      <a:lt1>
        <a:srgbClr val="FFFFFF"/>
      </a:lt1>
      <a:dk2>
        <a:srgbClr val="4D5668"/>
      </a:dk2>
      <a:lt2>
        <a:srgbClr val="EEF1EC"/>
      </a:lt2>
      <a:accent1>
        <a:srgbClr val="0F6E6A"/>
      </a:accent1>
      <a:accent2>
        <a:srgbClr val="C9921A"/>
      </a:accent2>
      <a:accent3>
        <a:srgbClr val="B8322A"/>
      </a:accent3>
      <a:accent4>
        <a:srgbClr val="7FD1C8"/>
      </a:accent4>
      <a:accent5>
        <a:srgbClr val="CFD6D1"/>
      </a:accent5>
      <a:accent6>
        <a:srgbClr val="D7EBE8"/>
      </a:accent6>
      <a:hlink>
        <a:srgbClr val="0F6E6A"/>
      </a:hlink>
      <a:folHlink>
        <a:srgbClr val="4D5668"/>
      </a:folHlink>
    </a:clrScheme>
    <a:fontScheme name="ParkPul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ParkPulse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ParkPulse Jammu — pitch deck</dc:title>
  <dc:subject>PptxGenJS Presentation</dc:subject>
  <dc:creator>Team Byte Bros</dc:creator>
  <cp:lastModifiedBy>Team Byte Bros</cp:lastModifiedBy>
  <cp:revision>1</cp:revision>
  <dcterms:created xsi:type="dcterms:W3CDTF">2026-10-18T07:32:19Z</dcterms:created>
  <dcterms:modified xsi:type="dcterms:W3CDTF">2026-10-18T07:32:19Z</dcterms:modified>
</cp:coreProperties>
</file>